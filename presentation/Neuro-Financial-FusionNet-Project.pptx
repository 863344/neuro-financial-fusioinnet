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152df5614e413c" /><Relationship Type="http://schemas.openxmlformats.org/officeDocument/2006/relationships/extended-properties" Target="/docProps/app.xml" Id="Rf2955940827b4ccc" /><Relationship Type="http://schemas.openxmlformats.org/officeDocument/2006/relationships/officeDocument" Target="/ppt/presentation.xml" Id="R69cc5bd065f244cb" /></Relationships>
</file>

<file path=ppt/presentation.xml><?xml version="1.0" encoding="utf-8"?>
<p:presentation xmlns:p="http://schemas.openxmlformats.org/presentationml/2006/main">
  <p:sldMasterIdLst>
    <p:sldMasterId xmlns:r="http://schemas.openxmlformats.org/officeDocument/2006/relationships" id="2147483648" r:id="R6929fed1deed4bff"/>
  </p:sldMasterIdLst>
  <p:notesMasterIdLst>
    <p:notesMasterId xmlns:r="http://schemas.openxmlformats.org/officeDocument/2006/relationships" r:id="R1d3470e9d9d94d7b"/>
  </p:notesMasterIdLst>
  <p:sldIdLst>
    <p:sldId xmlns:r="http://schemas.openxmlformats.org/officeDocument/2006/relationships" id="256" r:id="Rc0e14cc41f104cbf"/>
    <p:sldId xmlns:r="http://schemas.openxmlformats.org/officeDocument/2006/relationships" id="257" r:id="Rc8df54f1425446b0"/>
    <p:sldId xmlns:r="http://schemas.openxmlformats.org/officeDocument/2006/relationships" id="258" r:id="Rf6727c6f30c84ef8"/>
    <p:sldId xmlns:r="http://schemas.openxmlformats.org/officeDocument/2006/relationships" id="259" r:id="R3bec7c5a5191449a"/>
    <p:sldId xmlns:r="http://schemas.openxmlformats.org/officeDocument/2006/relationships" id="260" r:id="Rc5af3a8e81e14d6c"/>
    <p:sldId xmlns:r="http://schemas.openxmlformats.org/officeDocument/2006/relationships" id="261" r:id="Re155dab558484269"/>
    <p:sldId xmlns:r="http://schemas.openxmlformats.org/officeDocument/2006/relationships" id="262" r:id="Rf926e3441b4e4ac0"/>
    <p:sldId xmlns:r="http://schemas.openxmlformats.org/officeDocument/2006/relationships" id="263" r:id="Rde05c2b98c84470d"/>
    <p:sldId xmlns:r="http://schemas.openxmlformats.org/officeDocument/2006/relationships" id="264" r:id="R8322a4879efb4d03"/>
    <p:sldId xmlns:r="http://schemas.openxmlformats.org/officeDocument/2006/relationships" id="265" r:id="R4f74303149724abf"/>
    <p:sldId xmlns:r="http://schemas.openxmlformats.org/officeDocument/2006/relationships" id="266" r:id="Rb35255e68c4a4851"/>
    <p:sldId xmlns:r="http://schemas.openxmlformats.org/officeDocument/2006/relationships" id="267" r:id="R4f3fc787539a4e08"/>
    <p:sldId xmlns:r="http://schemas.openxmlformats.org/officeDocument/2006/relationships" id="268" r:id="R4de46dca94db4ef9"/>
    <p:sldId xmlns:r="http://schemas.openxmlformats.org/officeDocument/2006/relationships" id="269" r:id="R0975a0c1429340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40efb31f914461" /><Relationship Type="http://schemas.openxmlformats.org/officeDocument/2006/relationships/slideMaster" Target="/ppt/slideMasters/slideMaster1.xml" Id="R6929fed1deed4bff" /><Relationship Type="http://schemas.openxmlformats.org/officeDocument/2006/relationships/notesMaster" Target="/ppt/notesMasters/notesMaster1.xml" Id="R1d3470e9d9d94d7b" /><Relationship Type="http://schemas.openxmlformats.org/officeDocument/2006/relationships/presProps" Target="/ppt/presProps.xml" Id="Ra225cdcf167a4f5d" /><Relationship Type="http://schemas.openxmlformats.org/officeDocument/2006/relationships/tableStyles" Target="/ppt/tableStyles.xml" Id="Rdb2edbe982fc4003" /><Relationship Type="http://schemas.openxmlformats.org/officeDocument/2006/relationships/slide" Target="/ppt/slides/slide1.xml" Id="Rc0e14cc41f104cbf" /><Relationship Type="http://schemas.openxmlformats.org/officeDocument/2006/relationships/slide" Target="/ppt/slides/slide2.xml" Id="Rc8df54f1425446b0" /><Relationship Type="http://schemas.openxmlformats.org/officeDocument/2006/relationships/slide" Target="/ppt/slides/slide3.xml" Id="Rf6727c6f30c84ef8" /><Relationship Type="http://schemas.openxmlformats.org/officeDocument/2006/relationships/slide" Target="/ppt/slides/slide4.xml" Id="R3bec7c5a5191449a" /><Relationship Type="http://schemas.openxmlformats.org/officeDocument/2006/relationships/slide" Target="/ppt/slides/slide5.xml" Id="Rc5af3a8e81e14d6c" /><Relationship Type="http://schemas.openxmlformats.org/officeDocument/2006/relationships/slide" Target="/ppt/slides/slide6.xml" Id="Re155dab558484269" /><Relationship Type="http://schemas.openxmlformats.org/officeDocument/2006/relationships/slide" Target="/ppt/slides/slide7.xml" Id="Rf926e3441b4e4ac0" /><Relationship Type="http://schemas.openxmlformats.org/officeDocument/2006/relationships/slide" Target="/ppt/slides/slide8.xml" Id="Rde05c2b98c84470d" /><Relationship Type="http://schemas.openxmlformats.org/officeDocument/2006/relationships/slide" Target="/ppt/slides/slide9.xml" Id="R8322a4879efb4d03" /><Relationship Type="http://schemas.openxmlformats.org/officeDocument/2006/relationships/slide" Target="/ppt/slides/slide10.xml" Id="R4f74303149724abf" /><Relationship Type="http://schemas.openxmlformats.org/officeDocument/2006/relationships/slide" Target="/ppt/slides/slide11.xml" Id="Rb35255e68c4a4851" /><Relationship Type="http://schemas.openxmlformats.org/officeDocument/2006/relationships/slide" Target="/ppt/slides/slide12.xml" Id="R4f3fc787539a4e08" /><Relationship Type="http://schemas.openxmlformats.org/officeDocument/2006/relationships/slide" Target="/ppt/slides/slide13.xml" Id="R4de46dca94db4ef9" /><Relationship Type="http://schemas.openxmlformats.org/officeDocument/2006/relationships/slide" Target="/ppt/slides/slide14.xml" Id="R0975a0c1429340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593ea5e08946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a91f6d24a24b2c" /><Relationship Type="http://schemas.openxmlformats.org/officeDocument/2006/relationships/notesMaster" Target="/ppt/notesMasters/notesMaster1.xml" Id="R72ab0d2cec5d45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47309e71ad4477" /><Relationship Type="http://schemas.openxmlformats.org/officeDocument/2006/relationships/notesMaster" Target="/ppt/notesMasters/notesMaster1.xml" Id="Racffb4b136534d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6d791b4a1341d4" /><Relationship Type="http://schemas.openxmlformats.org/officeDocument/2006/relationships/notesMaster" Target="/ppt/notesMasters/notesMaster1.xml" Id="Reab1edf1451341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e0d26f61314e21" /><Relationship Type="http://schemas.openxmlformats.org/officeDocument/2006/relationships/notesMaster" Target="/ppt/notesMasters/notesMaster1.xml" Id="R02345b3e5e7446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820fb3c15f4399" /><Relationship Type="http://schemas.openxmlformats.org/officeDocument/2006/relationships/notesMaster" Target="/ppt/notesMasters/notesMaster1.xml" Id="Rc007dda65f9f46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e135c5e79b47fe" /><Relationship Type="http://schemas.openxmlformats.org/officeDocument/2006/relationships/notesMaster" Target="/ppt/notesMasters/notesMaster1.xml" Id="R9efb636e36864b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a9af14ef924b73" /><Relationship Type="http://schemas.openxmlformats.org/officeDocument/2006/relationships/notesMaster" Target="/ppt/notesMasters/notesMaster1.xml" Id="R3bd105431ef04c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cd4c1311044eda" /><Relationship Type="http://schemas.openxmlformats.org/officeDocument/2006/relationships/notesMaster" Target="/ppt/notesMasters/notesMaster1.xml" Id="Rd587103f8fec4d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b38177222b4622" /><Relationship Type="http://schemas.openxmlformats.org/officeDocument/2006/relationships/notesMaster" Target="/ppt/notesMasters/notesMaster1.xml" Id="R43e582dfdd8345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b80330a8574212" /><Relationship Type="http://schemas.openxmlformats.org/officeDocument/2006/relationships/notesMaster" Target="/ppt/notesMasters/notesMaster1.xml" Id="R12c50ccfd04d40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ed39ae55cd4953" /><Relationship Type="http://schemas.openxmlformats.org/officeDocument/2006/relationships/notesMaster" Target="/ppt/notesMasters/notesMaster1.xml" Id="R3f01d4dc56e84e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2d5848461245f1" /><Relationship Type="http://schemas.openxmlformats.org/officeDocument/2006/relationships/notesMaster" Target="/ppt/notesMasters/notesMaster1.xml" Id="Rc7d8541a479e4f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038169314547c7" /><Relationship Type="http://schemas.openxmlformats.org/officeDocument/2006/relationships/notesMaster" Target="/ppt/notesMasters/notesMaster1.xml" Id="R5c8e6ddd0c8e4a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f78a3a1f6c41ab" /><Relationship Type="http://schemas.openxmlformats.org/officeDocument/2006/relationships/notesMaster" Target="/ppt/notesMasters/notesMaster1.xml" Id="R7d04e39f476c4b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Title and authors from report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Report pages 1–3. Fusion performance is an empirical question, not an assumed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Report sections 3.1, 3.2 and 4.1. The report describes 1,989 aligned trading days. Repository code uses Close and Volume for five ETFs plus three macro 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Figure 1, report page 3. Original source figure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Report section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Report section 3.2 and Algorithm 1. Algorithm 1 selects node-specific price and volume for topology. Current repository graph function computes cosine similarity on the full node vector. Reconcile this before reproducing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Report section 3.3. Attention is Softmax(QK^T / sqrt(d_k))V.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Report sections 4.1–4.2. Three independent runs remain after the authors discard one duplicate. Current repository allows up to 50 epochs with patience 5. The displayed source training curves cover 15 epochs.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Original Figure 2, report page 6. Curves shown as published, without inferred raw epoch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Source: Table 1, report page 7. Values copied from the numerical table. Figure 3 has a GNN Run 2 bar label inconsistent with Table 1 (0.1596 versus 0.155095). The prose GNN mean 0.155089 also differs from the table mean 0.153588. Abstract metrics differ from the consolidated table. No values were invented or silently reconciled.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Original Figure 3, report page 7. Preserve the original graph. Caution: GNN Run 2 bar label reads approximately 0.1596, while Table 1 lists 0.155095. Use Table 1 for exact values. R² percentages are not classification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Report sections 4.2–5. Negative transfer describes the observed performance gap. Modality dominance and optimization noise are proposed explanations, not proven causal mechanisms.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Cross-check against repository source. data_loader.py defines the target as the standard deviation of future log returns over horizon=7, while the report describes a SPY price trend target. Its scaler fits all aligned data before splitting. kaggle_main.py uses the test loader for early stopping. These details limit direct reproduction and interpretation of reported metrics. Existing experiments remain reported evidence, but the updated code has not independently reproduced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Neuro-Financial-FusionNet-Final-Submission.pdf, supplied PBL report. Based on the supplied report, especially Table 1 and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1177efe8734c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3757d43c5e4a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9ca9f1007a40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b9a27984264d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796402820943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797b3d1c7742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466E17-0A25-4F85-BC2A-317C9DB7E3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9E24B4-A70E-40CB-BDFF-C189189ED28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7B40EA6-13A3-449C-BF9E-A4F8BAABDF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179BB8-453F-4947-A10C-A3CCD038DD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7BD1B1-BC8E-465F-8930-27081E1FCA7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40FC6B-68E8-4988-A12B-3AC45D1AD8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900C14-0D30-47AC-985D-58EEDCB17F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047BB4-4B53-4AE2-B7BB-7CE7C2A4336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A4F0E7-3163-4BB5-8791-03BB0A73F9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A196DC-2B96-4747-8CA3-02C9D0B1E7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5de7c3c39a4c3e" /><Relationship Type="http://schemas.openxmlformats.org/officeDocument/2006/relationships/slideLayout" Target="/ppt/slideLayouts/slideLayout1.xml" Id="R4992f4e697e34d8b" /><Relationship Type="http://schemas.openxmlformats.org/officeDocument/2006/relationships/slideLayout" Target="/ppt/slideLayouts/slideLayout2.xml" Id="Rfb3e65793c73409a" /><Relationship Type="http://schemas.openxmlformats.org/officeDocument/2006/relationships/slideLayout" Target="/ppt/slideLayouts/slideLayout3.xml" Id="Rdef07d5db784499f" /><Relationship Type="http://schemas.openxmlformats.org/officeDocument/2006/relationships/slideLayout" Target="/ppt/slideLayouts/slideLayout4.xml" Id="Rfd6a05efb7ed4dca" /><Relationship Type="http://schemas.openxmlformats.org/officeDocument/2006/relationships/slideLayout" Target="/ppt/slideLayouts/slideLayout5.xml" Id="Rb4fb4d7fbf6d4f4c" /><Relationship Type="http://schemas.openxmlformats.org/officeDocument/2006/relationships/slideLayout" Target="/ppt/slideLayouts/slideLayout6.xml" Id="R38070f5c0ca64c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92f4e697e34d8b"/>
    <p:sldLayoutId xmlns:r="http://schemas.openxmlformats.org/officeDocument/2006/relationships" id="2147483650" r:id="Rfb3e65793c73409a"/>
    <p:sldLayoutId xmlns:r="http://schemas.openxmlformats.org/officeDocument/2006/relationships" id="2147483651" r:id="Rdef07d5db784499f"/>
    <p:sldLayoutId xmlns:r="http://schemas.openxmlformats.org/officeDocument/2006/relationships" id="2147483652" r:id="Rfd6a05efb7ed4dca"/>
    <p:sldLayoutId xmlns:r="http://schemas.openxmlformats.org/officeDocument/2006/relationships" id="2147483653" r:id="Rb4fb4d7fbf6d4f4c"/>
    <p:sldLayoutId xmlns:r="http://schemas.openxmlformats.org/officeDocument/2006/relationships" id="2147483654" r:id="R38070f5c0ca64c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24bb5cef2944ff" /><Relationship Type="http://schemas.openxmlformats.org/officeDocument/2006/relationships/notesSlide" Target="/ppt/notesSlides/notesSlide1.xml" Id="R2d80abdfe6794f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07ad586daa14505" /><Relationship Type="http://schemas.openxmlformats.org/officeDocument/2006/relationships/notesSlide" Target="/ppt/notesSlides/notesSlide2.xml" Id="R8c4c5e8d928047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49b01909f34431c" /><Relationship Type="http://schemas.openxmlformats.org/officeDocument/2006/relationships/notesSlide" Target="/ppt/notesSlides/notesSlide3.xml" Id="R8452cfcf092348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d00a3bcf5a426e" /><Relationship Type="http://schemas.openxmlformats.org/officeDocument/2006/relationships/image" Target="/ppt/media/image.png" Id="R43d11a33a07c4f9e" /><Relationship Type="http://schemas.openxmlformats.org/officeDocument/2006/relationships/notesSlide" Target="/ppt/notesSlides/notesSlide4.xml" Id="Rd7725892ea7e4b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4904ab4bc2944e5" /><Relationship Type="http://schemas.openxmlformats.org/officeDocument/2006/relationships/notesSlide" Target="/ppt/notesSlides/notesSlide5.xml" Id="Re63b8d53e19447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7b12f16dd6e4666" /><Relationship Type="http://schemas.openxmlformats.org/officeDocument/2006/relationships/notesSlide" Target="/ppt/notesSlides/notesSlide6.xml" Id="R416ced659eb74b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4fb6f4b19e4509" /><Relationship Type="http://schemas.openxmlformats.org/officeDocument/2006/relationships/notesSlide" Target="/ppt/notesSlides/notesSlide7.xml" Id="R29d6ccc12c614f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2a45d3cb84427a" /><Relationship Type="http://schemas.openxmlformats.org/officeDocument/2006/relationships/notesSlide" Target="/ppt/notesSlides/notesSlide8.xml" Id="R77a0365b0efe4e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f5548a346c849f7" /><Relationship Type="http://schemas.openxmlformats.org/officeDocument/2006/relationships/image" Target="/ppt/media/image2.png" Id="Rd2f19959e69d4aff" /><Relationship Type="http://schemas.openxmlformats.org/officeDocument/2006/relationships/notesSlide" Target="/ppt/notesSlides/notesSlide9.xml" Id="Ref6d4ba8197d47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dc742a932e342db" /><Relationship Type="http://schemas.openxmlformats.org/officeDocument/2006/relationships/notesSlide" Target="/ppt/notesSlides/notesSlide10.xml" Id="R010b9cc5914148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1698ec438ef4bee" /><Relationship Type="http://schemas.openxmlformats.org/officeDocument/2006/relationships/image" Target="/ppt/media/image3.png" Id="R3288ae7626194c37" /><Relationship Type="http://schemas.openxmlformats.org/officeDocument/2006/relationships/notesSlide" Target="/ppt/notesSlides/notesSlide11.xml" Id="R522dd9f7acbe40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77541d328d347ed" /><Relationship Type="http://schemas.openxmlformats.org/officeDocument/2006/relationships/notesSlide" Target="/ppt/notesSlides/notesSlide12.xml" Id="R30720ff718aa41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02fe731c99d4641" /><Relationship Type="http://schemas.openxmlformats.org/officeDocument/2006/relationships/notesSlide" Target="/ppt/notesSlides/notesSlide13.xml" Id="Rd2c3b651f70147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d471961771e4d5f" /><Relationship Type="http://schemas.openxmlformats.org/officeDocument/2006/relationships/notesSlide" Target="/ppt/notesSlides/notesSlide14.xml" Id="R755aa7f4acc44701" /></Relationships>
</file>

<file path=ppt/slides/slide1.xml><?xml version="1.0" encoding="utf-8"?>
<p:sld xmlns:p="http://schemas.openxmlformats.org/presentationml/2006/main">
  <p:cSld>
    <p:bg>
      <p:bgPr>
        <a:solidFill xmlns:a="http://schemas.openxmlformats.org/drawingml/2006/main">
          <a:srgbClr val="1026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765D12-9517-4309-B4D9-17B7B2C657DF}"/>
              </a:ext>
            </a:extLst>
          </p:cNvPr>
          <p:cNvSpPr>
            <a:spLocks xmlns:a="http://schemas.openxmlformats.org/drawingml/2006/main" noGrp="1"/>
          </p:cNvSpPr>
          <p:nvPr/>
        </p:nvSpPr>
        <p:spPr>
          <a:xfrm xmlns:a="http://schemas.openxmlformats.org/drawingml/2006/main">
            <a:off x="685800" y="14287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Neuro-Financial FusionNet</a:t>
            </a:r>
          </a:p>
        </p:txBody>
      </p:sp>
      <p:sp>
        <p:nvSpPr>
          <p:cNvPr id="2" name="">
            <a:extLst xmlns:a="http://schemas.openxmlformats.org/drawingml/2006/main">
              <a:ext uri="{FF2B5EF4-FFF2-40B4-BE49-F238E27FC236}">
                <a16:creationId xmlns:a16="http://schemas.microsoft.com/office/drawing/2014/main" id="{4EE48E77-7EFB-41A2-BDD7-DFADDF11443A}"/>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FF86026-7C06-4AE3-83EF-0CA46E474E48}"/>
              </a:ext>
            </a:extLst>
          </p:cNvPr>
          <p:cNvSpPr>
            <a:spLocks xmlns:a="http://schemas.openxmlformats.org/drawingml/2006/main" noGrp="1"/>
          </p:cNvSpPr>
          <p:nvPr/>
        </p:nvSpPr>
        <p:spPr>
          <a:xfrm xmlns:a="http://schemas.openxmlformats.org/drawingml/2006/main">
            <a:off x="685800" y="2714625"/>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BCE7EA"/>
                </a:solidFill>
                <a:latin typeface="Arial"/>
                <a:ea typeface="Arial"/>
                <a:cs typeface="Arial"/>
              </a:defRPr>
            </a:defPPr>
          </a:lstStyle>
          <a:p xmlns:a="http://schemas.openxmlformats.org/drawingml/2006/main">
            <a:pPr>
              <a:defRPr sz="2700" b="0">
                <a:solidFill>
                  <a:srgbClr val="BCE7EA"/>
                </a:solidFill>
                <a:latin typeface="Arial"/>
                <a:ea typeface="Arial"/>
                <a:cs typeface="Arial"/>
              </a:defRPr>
            </a:pPr>
            <a:r>
              <a:rPr sz="2700" b="0">
                <a:solidFill>
                  <a:srgbClr val="BCE7EA"/>
                </a:solidFill>
                <a:latin typeface="Arial"/>
                <a:ea typeface="Arial"/>
                <a:cs typeface="Arial"/>
              </a:rPr>
              <a:t>Temporal Transformer and graph attention</a:t>
            </a:r>
          </a:p>
          <a:p xmlns:a="http://schemas.openxmlformats.org/drawingml/2006/main">
            <a:pPr>
              <a:defRPr sz="2700" b="0">
                <a:solidFill>
                  <a:srgbClr val="BCE7EA"/>
                </a:solidFill>
                <a:latin typeface="Arial"/>
                <a:ea typeface="Arial"/>
                <a:cs typeface="Arial"/>
              </a:defRPr>
            </a:pPr>
            <a:r>
              <a:rPr sz="2700" b="0">
                <a:solidFill>
                  <a:srgbClr val="BCE7EA"/>
                </a:solidFill>
                <a:latin typeface="Arial"/>
                <a:ea typeface="Arial"/>
                <a:cs typeface="Arial"/>
              </a:rPr>
              <a:t>for financial forecasting</a:t>
            </a:r>
          </a:p>
        </p:txBody>
      </p:sp>
      <p:sp>
        <p:nvSpPr>
          <p:cNvPr id="4" name="">
            <a:extLst xmlns:a="http://schemas.openxmlformats.org/drawingml/2006/main">
              <a:ext uri="{FF2B5EF4-FFF2-40B4-BE49-F238E27FC236}">
                <a16:creationId xmlns:a16="http://schemas.microsoft.com/office/drawing/2014/main" id="{829CFCE6-6D47-40E0-9AEF-0864E9E68E15}"/>
              </a:ext>
            </a:extLst>
          </p:cNvPr>
          <p:cNvSpPr>
            <a:spLocks xmlns:a="http://schemas.openxmlformats.org/drawingml/2006/main" noGrp="1"/>
          </p:cNvSpPr>
          <p:nvPr/>
        </p:nvSpPr>
        <p:spPr>
          <a:xfrm xmlns:a="http://schemas.openxmlformats.org/drawingml/2006/main">
            <a:off x="685800" y="4524375"/>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PBL Project Presentation</a:t>
            </a:r>
          </a:p>
        </p:txBody>
      </p:sp>
      <p:sp>
        <p:nvSpPr>
          <p:cNvPr id="5" name="">
            <a:extLst xmlns:a="http://schemas.openxmlformats.org/drawingml/2006/main">
              <a:ext uri="{FF2B5EF4-FFF2-40B4-BE49-F238E27FC236}">
                <a16:creationId xmlns:a16="http://schemas.microsoft.com/office/drawing/2014/main" id="{81523608-3A17-41E4-8406-74D72E9D4592}"/>
              </a:ext>
            </a:extLst>
          </p:cNvPr>
          <p:cNvSpPr>
            <a:spLocks xmlns:a="http://schemas.openxmlformats.org/drawingml/2006/main" noGrp="1"/>
          </p:cNvSpPr>
          <p:nvPr/>
        </p:nvSpPr>
        <p:spPr>
          <a:xfrm xmlns:a="http://schemas.openxmlformats.org/drawingml/2006/main">
            <a:off x="685800" y="51435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DCE5EC"/>
                </a:solidFill>
                <a:latin typeface="Arial"/>
                <a:ea typeface="Arial"/>
                <a:cs typeface="Arial"/>
              </a:defRPr>
            </a:defPPr>
          </a:lstStyle>
          <a:p xmlns:a="http://schemas.openxmlformats.org/drawingml/2006/main">
            <a:pPr>
              <a:defRPr sz="1575" b="0">
                <a:solidFill>
                  <a:srgbClr val="DCE5EC"/>
                </a:solidFill>
                <a:latin typeface="Arial"/>
                <a:ea typeface="Arial"/>
                <a:cs typeface="Arial"/>
              </a:defRPr>
            </a:pPr>
            <a:r>
              <a:rPr sz="1575" b="0">
                <a:solidFill>
                  <a:srgbClr val="DCE5EC"/>
                </a:solidFill>
                <a:latin typeface="Arial"/>
                <a:ea typeface="Arial"/>
                <a:cs typeface="Arial"/>
              </a:rPr>
              <a:t>Eswar Sharan Gunamoni, Vasthav Vijay Chowdary, Nishok Reddy</a:t>
            </a:r>
          </a:p>
          <a:p xmlns:a="http://schemas.openxmlformats.org/drawingml/2006/main">
            <a:pPr>
              <a:defRPr sz="1575" b="0">
                <a:solidFill>
                  <a:srgbClr val="DCE5EC"/>
                </a:solidFill>
                <a:latin typeface="Arial"/>
                <a:ea typeface="Arial"/>
                <a:cs typeface="Arial"/>
              </a:defRPr>
            </a:pPr>
            <a:r>
              <a:rPr sz="1575" b="0">
                <a:solidFill>
                  <a:srgbClr val="DCE5EC"/>
                </a:solidFill>
                <a:latin typeface="Arial"/>
                <a:ea typeface="Arial"/>
                <a:cs typeface="Arial"/>
              </a:rPr>
              <a:t>Sushama Rani Dutta</a:t>
            </a:r>
          </a:p>
          <a:p xmlns:a="http://schemas.openxmlformats.org/drawingml/2006/main">
            <a:pPr>
              <a:defRPr sz="1575" b="0">
                <a:solidFill>
                  <a:srgbClr val="DCE5EC"/>
                </a:solidFill>
                <a:latin typeface="Arial"/>
                <a:ea typeface="Arial"/>
                <a:cs typeface="Arial"/>
              </a:defRPr>
            </a:pPr>
            <a:r>
              <a:rPr sz="1575" b="0">
                <a:solidFill>
                  <a:srgbClr val="DCE5EC"/>
                </a:solidFill>
                <a:latin typeface="Arial"/>
                <a:ea typeface="Arial"/>
                <a:cs typeface="Arial"/>
              </a:rPr>
              <a:t>Koneru Lakshmaiah Education Foundation, Hyderabad</a:t>
            </a:r>
          </a:p>
        </p:txBody>
      </p:sp>
    </p:spTree>
    <p:extLst>
      <p:ext uri="{BB962C8B-B14F-4D97-AF65-F5344CB8AC3E}">
        <p14:creationId xmlns:p14="http://schemas.microsoft.com/office/powerpoint/2010/main" val="1451883050"/>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01FEA0-8BA0-44D2-B5AE-9A4D1064CFD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Research question</a:t>
            </a:r>
          </a:p>
        </p:txBody>
      </p:sp>
      <p:sp>
        <p:nvSpPr>
          <p:cNvPr id="2" name="">
            <a:extLst xmlns:a="http://schemas.openxmlformats.org/drawingml/2006/main">
              <a:ext uri="{FF2B5EF4-FFF2-40B4-BE49-F238E27FC236}">
                <a16:creationId xmlns:a16="http://schemas.microsoft.com/office/drawing/2014/main" id="{944C16F6-ED3A-4DC9-B0E7-1F94766CDAAC}"/>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451721A-C641-4969-A641-A0823277B26F}"/>
              </a:ext>
            </a:extLst>
          </p:cNvPr>
          <p:cNvSpPr>
            <a:spLocks xmlns:a="http://schemas.openxmlformats.org/drawingml/2006/main" noGrp="1"/>
          </p:cNvSpPr>
          <p:nvPr/>
        </p:nvSpPr>
        <p:spPr>
          <a:xfrm xmlns:a="http://schemas.openxmlformats.org/drawingml/2006/main">
            <a:off x="628650" y="16002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Motivation</a:t>
            </a:r>
          </a:p>
        </p:txBody>
      </p:sp>
      <p:sp>
        <p:nvSpPr>
          <p:cNvPr id="4" name="">
            <a:extLst xmlns:a="http://schemas.openxmlformats.org/drawingml/2006/main">
              <a:ext uri="{FF2B5EF4-FFF2-40B4-BE49-F238E27FC236}">
                <a16:creationId xmlns:a16="http://schemas.microsoft.com/office/drawing/2014/main" id="{688E3189-A944-4DBB-9C12-CD87BD21C48C}"/>
              </a:ext>
            </a:extLst>
          </p:cNvPr>
          <p:cNvSpPr>
            <a:spLocks xmlns:a="http://schemas.openxmlformats.org/drawingml/2006/main" noGrp="1"/>
          </p:cNvSpPr>
          <p:nvPr/>
        </p:nvSpPr>
        <p:spPr>
          <a:xfrm xmlns:a="http://schemas.openxmlformats.org/drawingml/2006/main">
            <a:off x="3714750" y="160020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Market forecasting combines numerical history with information contained in financial news.</a:t>
            </a:r>
          </a:p>
        </p:txBody>
      </p:sp>
      <p:sp>
        <p:nvSpPr>
          <p:cNvPr id="5" name="">
            <a:extLst xmlns:a="http://schemas.openxmlformats.org/drawingml/2006/main">
              <a:ext uri="{FF2B5EF4-FFF2-40B4-BE49-F238E27FC236}">
                <a16:creationId xmlns:a16="http://schemas.microsoft.com/office/drawing/2014/main" id="{F4872044-71E3-4324-94EC-7138E1D5DEF6}"/>
              </a:ext>
            </a:extLst>
          </p:cNvPr>
          <p:cNvSpPr>
            <a:spLocks xmlns:a="http://schemas.openxmlformats.org/drawingml/2006/main" noGrp="1"/>
          </p:cNvSpPr>
          <p:nvPr/>
        </p:nvSpPr>
        <p:spPr>
          <a:xfrm xmlns:a="http://schemas.openxmlformats.org/drawingml/2006/main">
            <a:off x="628650" y="29622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Research question</a:t>
            </a:r>
          </a:p>
        </p:txBody>
      </p:sp>
      <p:sp>
        <p:nvSpPr>
          <p:cNvPr id="6" name="">
            <a:extLst xmlns:a="http://schemas.openxmlformats.org/drawingml/2006/main">
              <a:ext uri="{FF2B5EF4-FFF2-40B4-BE49-F238E27FC236}">
                <a16:creationId xmlns:a16="http://schemas.microsoft.com/office/drawing/2014/main" id="{BE623734-A02A-46F0-B5C4-64D236B51238}"/>
              </a:ext>
            </a:extLst>
          </p:cNvPr>
          <p:cNvSpPr>
            <a:spLocks xmlns:a="http://schemas.openxmlformats.org/drawingml/2006/main" noGrp="1"/>
          </p:cNvSpPr>
          <p:nvPr/>
        </p:nvSpPr>
        <p:spPr>
          <a:xfrm xmlns:a="http://schemas.openxmlformats.org/drawingml/2006/main">
            <a:off x="3714750" y="2962275"/>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Does adding a semantic asset graph improve predictions over a temporal Transformer alone?</a:t>
            </a:r>
          </a:p>
        </p:txBody>
      </p:sp>
      <p:sp>
        <p:nvSpPr>
          <p:cNvPr id="7" name="">
            <a:extLst xmlns:a="http://schemas.openxmlformats.org/drawingml/2006/main">
              <a:ext uri="{FF2B5EF4-FFF2-40B4-BE49-F238E27FC236}">
                <a16:creationId xmlns:a16="http://schemas.microsoft.com/office/drawing/2014/main" id="{C0B4F948-E700-4EBB-A0BF-4A2D5B63C9EE}"/>
              </a:ext>
            </a:extLst>
          </p:cNvPr>
          <p:cNvSpPr>
            <a:spLocks xmlns:a="http://schemas.openxmlformats.org/drawingml/2006/main" noGrp="1"/>
          </p:cNvSpPr>
          <p:nvPr/>
        </p:nvSpPr>
        <p:spPr>
          <a:xfrm xmlns:a="http://schemas.openxmlformats.org/drawingml/2006/main">
            <a:off x="628650" y="43243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Evaluation</a:t>
            </a:r>
          </a:p>
        </p:txBody>
      </p:sp>
      <p:sp>
        <p:nvSpPr>
          <p:cNvPr id="8" name="">
            <a:extLst xmlns:a="http://schemas.openxmlformats.org/drawingml/2006/main">
              <a:ext uri="{FF2B5EF4-FFF2-40B4-BE49-F238E27FC236}">
                <a16:creationId xmlns:a16="http://schemas.microsoft.com/office/drawing/2014/main" id="{85742F14-0A35-4672-A9D2-7BF8E33C40F7}"/>
              </a:ext>
            </a:extLst>
          </p:cNvPr>
          <p:cNvSpPr>
            <a:spLocks xmlns:a="http://schemas.openxmlformats.org/drawingml/2006/main" noGrp="1"/>
          </p:cNvSpPr>
          <p:nvPr/>
        </p:nvSpPr>
        <p:spPr>
          <a:xfrm xmlns:a="http://schemas.openxmlformats.org/drawingml/2006/main">
            <a:off x="3714750" y="432435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Compare Temporal-Only, Spatial GNN-Only, and cross-attention FusionNet across three runs.</a:t>
            </a:r>
          </a:p>
        </p:txBody>
      </p:sp>
    </p:spTree>
    <p:extLst>
      <p:ext uri="{BB962C8B-B14F-4D97-AF65-F5344CB8AC3E}">
        <p14:creationId xmlns:p14="http://schemas.microsoft.com/office/powerpoint/2010/main" val="1365132579"/>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3A6809-54CB-4B3F-AB15-C5D0440E18D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Data and preprocessing</a:t>
            </a:r>
          </a:p>
        </p:txBody>
      </p:sp>
      <p:sp>
        <p:nvSpPr>
          <p:cNvPr id="2" name="">
            <a:extLst xmlns:a="http://schemas.openxmlformats.org/drawingml/2006/main">
              <a:ext uri="{FF2B5EF4-FFF2-40B4-BE49-F238E27FC236}">
                <a16:creationId xmlns:a16="http://schemas.microsoft.com/office/drawing/2014/main" id="{00306438-8F5C-4C74-83D1-9107E5D54B53}"/>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B9747EA-B12C-4B26-B1AF-ED8076580351}"/>
              </a:ext>
            </a:extLst>
          </p:cNvPr>
          <p:cNvSpPr>
            <a:spLocks xmlns:a="http://schemas.openxmlformats.org/drawingml/2006/main" noGrp="1"/>
          </p:cNvSpPr>
          <p:nvPr/>
        </p:nvSpPr>
        <p:spPr>
          <a:xfrm xmlns:a="http://schemas.openxmlformats.org/drawingml/2006/main">
            <a:off x="628650" y="16002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Financial inputs</a:t>
            </a:r>
          </a:p>
        </p:txBody>
      </p:sp>
      <p:sp>
        <p:nvSpPr>
          <p:cNvPr id="4" name="">
            <a:extLst xmlns:a="http://schemas.openxmlformats.org/drawingml/2006/main">
              <a:ext uri="{FF2B5EF4-FFF2-40B4-BE49-F238E27FC236}">
                <a16:creationId xmlns:a16="http://schemas.microsoft.com/office/drawing/2014/main" id="{DE263A4D-D8B9-4BC4-B6FA-0E02221CC592}"/>
              </a:ext>
            </a:extLst>
          </p:cNvPr>
          <p:cNvSpPr>
            <a:spLocks xmlns:a="http://schemas.openxmlformats.org/drawingml/2006/main" noGrp="1"/>
          </p:cNvSpPr>
          <p:nvPr/>
        </p:nvSpPr>
        <p:spPr>
          <a:xfrm xmlns:a="http://schemas.openxmlformats.org/drawingml/2006/main">
            <a:off x="3714750" y="160020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Five ETF nodes: SPY, XLK, XLF, XLV and XLE. Numerical inputs include market variables and three macroeconomic indicators.</a:t>
            </a:r>
          </a:p>
        </p:txBody>
      </p:sp>
      <p:sp>
        <p:nvSpPr>
          <p:cNvPr id="5" name="">
            <a:extLst xmlns:a="http://schemas.openxmlformats.org/drawingml/2006/main">
              <a:ext uri="{FF2B5EF4-FFF2-40B4-BE49-F238E27FC236}">
                <a16:creationId xmlns:a16="http://schemas.microsoft.com/office/drawing/2014/main" id="{151CE534-A311-44D0-9336-1FEB4B9962F7}"/>
              </a:ext>
            </a:extLst>
          </p:cNvPr>
          <p:cNvSpPr>
            <a:spLocks xmlns:a="http://schemas.openxmlformats.org/drawingml/2006/main" noGrp="1"/>
          </p:cNvSpPr>
          <p:nvPr/>
        </p:nvSpPr>
        <p:spPr>
          <a:xfrm xmlns:a="http://schemas.openxmlformats.org/drawingml/2006/main">
            <a:off x="628650" y="29622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News inputs</a:t>
            </a:r>
          </a:p>
        </p:txBody>
      </p:sp>
      <p:sp>
        <p:nvSpPr>
          <p:cNvPr id="6" name="">
            <a:extLst xmlns:a="http://schemas.openxmlformats.org/drawingml/2006/main">
              <a:ext uri="{FF2B5EF4-FFF2-40B4-BE49-F238E27FC236}">
                <a16:creationId xmlns:a16="http://schemas.microsoft.com/office/drawing/2014/main" id="{C9EC0B54-4BEF-498B-BA6A-EEB901839AB5}"/>
              </a:ext>
            </a:extLst>
          </p:cNvPr>
          <p:cNvSpPr>
            <a:spLocks xmlns:a="http://schemas.openxmlformats.org/drawingml/2006/main" noGrp="1"/>
          </p:cNvSpPr>
          <p:nvPr/>
        </p:nvSpPr>
        <p:spPr>
          <a:xfrm xmlns:a="http://schemas.openxmlformats.org/drawingml/2006/main">
            <a:off x="3714750" y="2962275"/>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Daily DJIA headlines encoded with FinBERT into one 768-dimensional embedding per day.</a:t>
            </a:r>
          </a:p>
        </p:txBody>
      </p:sp>
      <p:sp>
        <p:nvSpPr>
          <p:cNvPr id="7" name="">
            <a:extLst xmlns:a="http://schemas.openxmlformats.org/drawingml/2006/main">
              <a:ext uri="{FF2B5EF4-FFF2-40B4-BE49-F238E27FC236}">
                <a16:creationId xmlns:a16="http://schemas.microsoft.com/office/drawing/2014/main" id="{B5ED1157-022C-415E-B97C-2283A7125AE6}"/>
              </a:ext>
            </a:extLst>
          </p:cNvPr>
          <p:cNvSpPr>
            <a:spLocks xmlns:a="http://schemas.openxmlformats.org/drawingml/2006/main" noGrp="1"/>
          </p:cNvSpPr>
          <p:nvPr/>
        </p:nvSpPr>
        <p:spPr>
          <a:xfrm xmlns:a="http://schemas.openxmlformats.org/drawingml/2006/main">
            <a:off x="628650" y="43243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Alignment</a:t>
            </a:r>
          </a:p>
        </p:txBody>
      </p:sp>
      <p:sp>
        <p:nvSpPr>
          <p:cNvPr id="8" name="">
            <a:extLst xmlns:a="http://schemas.openxmlformats.org/drawingml/2006/main">
              <a:ext uri="{FF2B5EF4-FFF2-40B4-BE49-F238E27FC236}">
                <a16:creationId xmlns:a16="http://schemas.microsoft.com/office/drawing/2014/main" id="{147755CB-4218-464C-A3ED-AEC5D784AAF3}"/>
              </a:ext>
            </a:extLst>
          </p:cNvPr>
          <p:cNvSpPr>
            <a:spLocks xmlns:a="http://schemas.openxmlformats.org/drawingml/2006/main" noGrp="1"/>
          </p:cNvSpPr>
          <p:nvPr/>
        </p:nvSpPr>
        <p:spPr>
          <a:xfrm xmlns:a="http://schemas.openxmlformats.org/drawingml/2006/main">
            <a:off x="3714750" y="432435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1,989 trading days in the report. A 30-day lookback and min-max scaling to [-1, 1].</a:t>
            </a:r>
          </a:p>
        </p:txBody>
      </p:sp>
    </p:spTree>
    <p:extLst>
      <p:ext uri="{BB962C8B-B14F-4D97-AF65-F5344CB8AC3E}">
        <p14:creationId xmlns:p14="http://schemas.microsoft.com/office/powerpoint/2010/main" val="1484131774"/>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2B4BD1-FAD7-42EF-ABF1-4F9CDB84A95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Dual-stream architecture</a:t>
            </a:r>
          </a:p>
        </p:txBody>
      </p:sp>
      <p:sp>
        <p:nvSpPr>
          <p:cNvPr id="2" name="">
            <a:extLst xmlns:a="http://schemas.openxmlformats.org/drawingml/2006/main">
              <a:ext uri="{FF2B5EF4-FFF2-40B4-BE49-F238E27FC236}">
                <a16:creationId xmlns:a16="http://schemas.microsoft.com/office/drawing/2014/main" id="{3C469D4E-9FF0-4E3C-BFF9-B7A761F242CA}"/>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C14AC14E-CB48-4754-934A-F42F1D1CCC0A}"/>
              </a:ext>
            </a:extLst>
          </p:cNvPr>
          <p:cNvPicPr>
            <a:picLocks xmlns:a="http://schemas.openxmlformats.org/drawingml/2006/main" noChangeAspect="1"/>
          </p:cNvPicPr>
          <p:nvPr/>
        </p:nvPicPr>
        <p:blipFill>
          <a:blip xmlns:r="http://schemas.openxmlformats.org/officeDocument/2006/relationships" xmlns:a="http://schemas.openxmlformats.org/drawingml/2006/main" r:embed="R43d11a33a07c4f9e"/>
          <a:stretch xmlns:a="http://schemas.openxmlformats.org/drawingml/2006/main"/>
        </p:blipFill>
        <p:spPr>
          <a:xfrm xmlns:a="http://schemas.openxmlformats.org/drawingml/2006/main">
            <a:off x="3029585" y="1381125"/>
            <a:ext cx="6132830"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57CB472-2749-4BEE-A0EF-6D7E2CFFBFE6}"/>
              </a:ext>
            </a:extLst>
          </p:cNvPr>
          <p:cNvSpPr>
            <a:spLocks xmlns:a="http://schemas.openxmlformats.org/drawingml/2006/main" noGrp="1"/>
          </p:cNvSpPr>
          <p:nvPr/>
        </p:nvSpPr>
        <p:spPr>
          <a:xfrm xmlns:a="http://schemas.openxmlformats.org/drawingml/2006/main">
            <a:off x="76200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E87"/>
                </a:solidFill>
                <a:latin typeface="Arial"/>
                <a:ea typeface="Arial"/>
                <a:cs typeface="Arial"/>
              </a:defRPr>
            </a:defPPr>
          </a:lstStyle>
          <a:p xmlns:a="http://schemas.openxmlformats.org/drawingml/2006/main">
            <a:pPr>
              <a:defRPr sz="1950" b="1">
                <a:solidFill>
                  <a:srgbClr val="007E87"/>
                </a:solidFill>
                <a:latin typeface="Arial"/>
                <a:ea typeface="Arial"/>
                <a:cs typeface="Arial"/>
              </a:defRPr>
            </a:pPr>
            <a:r>
              <a:rPr sz="1950" b="1">
                <a:solidFill>
                  <a:srgbClr val="007E87"/>
                </a:solidFill>
                <a:latin typeface="Arial"/>
                <a:ea typeface="Arial"/>
                <a:cs typeface="Arial"/>
              </a:rPr>
              <a:t>Temporal context queries the graph representations through cross-attention.</a:t>
            </a:r>
          </a:p>
        </p:txBody>
      </p:sp>
    </p:spTree>
    <p:extLst>
      <p:ext uri="{BB962C8B-B14F-4D97-AF65-F5344CB8AC3E}">
        <p14:creationId xmlns:p14="http://schemas.microsoft.com/office/powerpoint/2010/main" val="1332615051"/>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79C248-44D1-417C-A988-DB75A226540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Temporal Transformer</a:t>
            </a:r>
          </a:p>
        </p:txBody>
      </p:sp>
      <p:sp>
        <p:nvSpPr>
          <p:cNvPr id="2" name="">
            <a:extLst xmlns:a="http://schemas.openxmlformats.org/drawingml/2006/main">
              <a:ext uri="{FF2B5EF4-FFF2-40B4-BE49-F238E27FC236}">
                <a16:creationId xmlns:a16="http://schemas.microsoft.com/office/drawing/2014/main" id="{2F76D513-1DFB-4ACD-8484-3F93494138AA}"/>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8AE3942-2B85-43E7-805B-78EE5B9E4278}"/>
              </a:ext>
            </a:extLst>
          </p:cNvPr>
          <p:cNvSpPr>
            <a:spLocks xmlns:a="http://schemas.openxmlformats.org/drawingml/2006/main" noGrp="1"/>
          </p:cNvSpPr>
          <p:nvPr/>
        </p:nvSpPr>
        <p:spPr>
          <a:xfrm xmlns:a="http://schemas.openxmlformats.org/drawingml/2006/main">
            <a:off x="628650" y="16002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Input</a:t>
            </a:r>
          </a:p>
        </p:txBody>
      </p:sp>
      <p:sp>
        <p:nvSpPr>
          <p:cNvPr id="4" name="">
            <a:extLst xmlns:a="http://schemas.openxmlformats.org/drawingml/2006/main">
              <a:ext uri="{FF2B5EF4-FFF2-40B4-BE49-F238E27FC236}">
                <a16:creationId xmlns:a16="http://schemas.microsoft.com/office/drawing/2014/main" id="{DFDF0002-F167-48CC-BA09-E965ADBF551B}"/>
              </a:ext>
            </a:extLst>
          </p:cNvPr>
          <p:cNvSpPr>
            <a:spLocks xmlns:a="http://schemas.openxmlformats.org/drawingml/2006/main" noGrp="1"/>
          </p:cNvSpPr>
          <p:nvPr/>
        </p:nvSpPr>
        <p:spPr>
          <a:xfrm xmlns:a="http://schemas.openxmlformats.org/drawingml/2006/main">
            <a:off x="3714750" y="160020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A batch of 30 trading days with 13 numerical features per day.</a:t>
            </a:r>
          </a:p>
        </p:txBody>
      </p:sp>
      <p:sp>
        <p:nvSpPr>
          <p:cNvPr id="5" name="">
            <a:extLst xmlns:a="http://schemas.openxmlformats.org/drawingml/2006/main">
              <a:ext uri="{FF2B5EF4-FFF2-40B4-BE49-F238E27FC236}">
                <a16:creationId xmlns:a16="http://schemas.microsoft.com/office/drawing/2014/main" id="{5EB63178-22C2-45C9-A042-416F6FE4C965}"/>
              </a:ext>
            </a:extLst>
          </p:cNvPr>
          <p:cNvSpPr>
            <a:spLocks xmlns:a="http://schemas.openxmlformats.org/drawingml/2006/main" noGrp="1"/>
          </p:cNvSpPr>
          <p:nvPr/>
        </p:nvSpPr>
        <p:spPr>
          <a:xfrm xmlns:a="http://schemas.openxmlformats.org/drawingml/2006/main">
            <a:off x="628650" y="29622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Encoder</a:t>
            </a:r>
          </a:p>
        </p:txBody>
      </p:sp>
      <p:sp>
        <p:nvSpPr>
          <p:cNvPr id="6" name="">
            <a:extLst xmlns:a="http://schemas.openxmlformats.org/drawingml/2006/main">
              <a:ext uri="{FF2B5EF4-FFF2-40B4-BE49-F238E27FC236}">
                <a16:creationId xmlns:a16="http://schemas.microsoft.com/office/drawing/2014/main" id="{2ED7F39C-390B-4B5C-912F-16E7993B9C22}"/>
              </a:ext>
            </a:extLst>
          </p:cNvPr>
          <p:cNvSpPr>
            <a:spLocks xmlns:a="http://schemas.openxmlformats.org/drawingml/2006/main" noGrp="1"/>
          </p:cNvSpPr>
          <p:nvPr/>
        </p:nvSpPr>
        <p:spPr>
          <a:xfrm xmlns:a="http://schemas.openxmlformats.org/drawingml/2006/main">
            <a:off x="3714750" y="2962275"/>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Project to 64 dimensions, add sinusoidal position encoding, then apply two Transformer layers with four attention heads.</a:t>
            </a:r>
          </a:p>
        </p:txBody>
      </p:sp>
      <p:sp>
        <p:nvSpPr>
          <p:cNvPr id="7" name="">
            <a:extLst xmlns:a="http://schemas.openxmlformats.org/drawingml/2006/main">
              <a:ext uri="{FF2B5EF4-FFF2-40B4-BE49-F238E27FC236}">
                <a16:creationId xmlns:a16="http://schemas.microsoft.com/office/drawing/2014/main" id="{7292574F-005F-4919-931E-4008025AC06A}"/>
              </a:ext>
            </a:extLst>
          </p:cNvPr>
          <p:cNvSpPr>
            <a:spLocks xmlns:a="http://schemas.openxmlformats.org/drawingml/2006/main" noGrp="1"/>
          </p:cNvSpPr>
          <p:nvPr/>
        </p:nvSpPr>
        <p:spPr>
          <a:xfrm xmlns:a="http://schemas.openxmlformats.org/drawingml/2006/main">
            <a:off x="628650" y="43243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Output</a:t>
            </a:r>
          </a:p>
        </p:txBody>
      </p:sp>
      <p:sp>
        <p:nvSpPr>
          <p:cNvPr id="8" name="">
            <a:extLst xmlns:a="http://schemas.openxmlformats.org/drawingml/2006/main">
              <a:ext uri="{FF2B5EF4-FFF2-40B4-BE49-F238E27FC236}">
                <a16:creationId xmlns:a16="http://schemas.microsoft.com/office/drawing/2014/main" id="{49DCDE2B-0D34-4AB0-98D4-67E272324BE9}"/>
              </a:ext>
            </a:extLst>
          </p:cNvPr>
          <p:cNvSpPr>
            <a:spLocks xmlns:a="http://schemas.openxmlformats.org/drawingml/2006/main" noGrp="1"/>
          </p:cNvSpPr>
          <p:nvPr/>
        </p:nvSpPr>
        <p:spPr>
          <a:xfrm xmlns:a="http://schemas.openxmlformats.org/drawingml/2006/main">
            <a:off x="3714750" y="432435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The final time-step representation supplies the query for the fusion mechanism.</a:t>
            </a:r>
          </a:p>
        </p:txBody>
      </p:sp>
    </p:spTree>
    <p:extLst>
      <p:ext uri="{BB962C8B-B14F-4D97-AF65-F5344CB8AC3E}">
        <p14:creationId xmlns:p14="http://schemas.microsoft.com/office/powerpoint/2010/main" val="1467085440"/>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3A1176-9E45-4875-9882-8223B08B6FF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Spatial graph and semantic features</a:t>
            </a:r>
          </a:p>
        </p:txBody>
      </p:sp>
      <p:sp>
        <p:nvSpPr>
          <p:cNvPr id="2" name="">
            <a:extLst xmlns:a="http://schemas.openxmlformats.org/drawingml/2006/main">
              <a:ext uri="{FF2B5EF4-FFF2-40B4-BE49-F238E27FC236}">
                <a16:creationId xmlns:a16="http://schemas.microsoft.com/office/drawing/2014/main" id="{70D12364-892E-4629-8A46-77FB8D5B719D}"/>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6D3AE430-A993-483A-9AB9-190ADD867DA4}"/>
              </a:ext>
            </a:extLst>
          </p:cNvPr>
          <p:cNvSpPr>
            <a:spLocks xmlns:a="http://schemas.openxmlformats.org/drawingml/2006/main" noGrp="1"/>
          </p:cNvSpPr>
          <p:nvPr/>
        </p:nvSpPr>
        <p:spPr>
          <a:xfrm xmlns:a="http://schemas.openxmlformats.org/drawingml/2006/main">
            <a:off x="628650" y="16002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Node features</a:t>
            </a:r>
          </a:p>
        </p:txBody>
      </p:sp>
      <p:sp>
        <p:nvSpPr>
          <p:cNvPr id="4" name="">
            <a:extLst xmlns:a="http://schemas.openxmlformats.org/drawingml/2006/main">
              <a:ext uri="{FF2B5EF4-FFF2-40B4-BE49-F238E27FC236}">
                <a16:creationId xmlns:a16="http://schemas.microsoft.com/office/drawing/2014/main" id="{740D75E6-C21E-4480-BED9-BFA80EF20892}"/>
              </a:ext>
            </a:extLst>
          </p:cNvPr>
          <p:cNvSpPr>
            <a:spLocks xmlns:a="http://schemas.openxmlformats.org/drawingml/2006/main" noGrp="1"/>
          </p:cNvSpPr>
          <p:nvPr/>
        </p:nvSpPr>
        <p:spPr>
          <a:xfrm xmlns:a="http://schemas.openxmlformats.org/drawingml/2006/main">
            <a:off x="3714750" y="160020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773 dimensions: 2 local price/volume features, 3 macro variables, and 768 news embedding values.</a:t>
            </a:r>
          </a:p>
        </p:txBody>
      </p:sp>
      <p:sp>
        <p:nvSpPr>
          <p:cNvPr id="5" name="">
            <a:extLst xmlns:a="http://schemas.openxmlformats.org/drawingml/2006/main">
              <a:ext uri="{FF2B5EF4-FFF2-40B4-BE49-F238E27FC236}">
                <a16:creationId xmlns:a16="http://schemas.microsoft.com/office/drawing/2014/main" id="{87B0177D-57BC-48B8-9E2C-44DE00CA3FD9}"/>
              </a:ext>
            </a:extLst>
          </p:cNvPr>
          <p:cNvSpPr>
            <a:spLocks xmlns:a="http://schemas.openxmlformats.org/drawingml/2006/main" noGrp="1"/>
          </p:cNvSpPr>
          <p:nvPr/>
        </p:nvSpPr>
        <p:spPr>
          <a:xfrm xmlns:a="http://schemas.openxmlformats.org/drawingml/2006/main">
            <a:off x="628650" y="29622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Graph topology</a:t>
            </a:r>
          </a:p>
        </p:txBody>
      </p:sp>
      <p:sp>
        <p:nvSpPr>
          <p:cNvPr id="6" name="">
            <a:extLst xmlns:a="http://schemas.openxmlformats.org/drawingml/2006/main">
              <a:ext uri="{FF2B5EF4-FFF2-40B4-BE49-F238E27FC236}">
                <a16:creationId xmlns:a16="http://schemas.microsoft.com/office/drawing/2014/main" id="{C0F4801F-B40E-42CA-A640-7F7380209F0F}"/>
              </a:ext>
            </a:extLst>
          </p:cNvPr>
          <p:cNvSpPr>
            <a:spLocks xmlns:a="http://schemas.openxmlformats.org/drawingml/2006/main" noGrp="1"/>
          </p:cNvSpPr>
          <p:nvPr/>
        </p:nvSpPr>
        <p:spPr>
          <a:xfrm xmlns:a="http://schemas.openxmlformats.org/drawingml/2006/main">
            <a:off x="3714750" y="2962275"/>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Keep edges whose cosine similarity exceeds 0.4. The design aims to remove weak connections.</a:t>
            </a:r>
          </a:p>
        </p:txBody>
      </p:sp>
      <p:sp>
        <p:nvSpPr>
          <p:cNvPr id="7" name="">
            <a:extLst xmlns:a="http://schemas.openxmlformats.org/drawingml/2006/main">
              <a:ext uri="{FF2B5EF4-FFF2-40B4-BE49-F238E27FC236}">
                <a16:creationId xmlns:a16="http://schemas.microsoft.com/office/drawing/2014/main" id="{ABE2E2C6-41FB-469E-9EE2-B9BF7A97987E}"/>
              </a:ext>
            </a:extLst>
          </p:cNvPr>
          <p:cNvSpPr>
            <a:spLocks xmlns:a="http://schemas.openxmlformats.org/drawingml/2006/main" noGrp="1"/>
          </p:cNvSpPr>
          <p:nvPr/>
        </p:nvSpPr>
        <p:spPr>
          <a:xfrm xmlns:a="http://schemas.openxmlformats.org/drawingml/2006/main">
            <a:off x="628650" y="43243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Graph attention</a:t>
            </a:r>
          </a:p>
        </p:txBody>
      </p:sp>
      <p:sp>
        <p:nvSpPr>
          <p:cNvPr id="8" name="">
            <a:extLst xmlns:a="http://schemas.openxmlformats.org/drawingml/2006/main">
              <a:ext uri="{FF2B5EF4-FFF2-40B4-BE49-F238E27FC236}">
                <a16:creationId xmlns:a16="http://schemas.microsoft.com/office/drawing/2014/main" id="{38186446-074A-48EA-A7A1-9F4FCB85F3B7}"/>
              </a:ext>
            </a:extLst>
          </p:cNvPr>
          <p:cNvSpPr>
            <a:spLocks xmlns:a="http://schemas.openxmlformats.org/drawingml/2006/main" noGrp="1"/>
          </p:cNvSpPr>
          <p:nvPr/>
        </p:nvSpPr>
        <p:spPr>
          <a:xfrm xmlns:a="http://schemas.openxmlformats.org/drawingml/2006/main">
            <a:off x="3714750" y="432435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Two GAT layers produce five node representations of 64 dimensions each.</a:t>
            </a:r>
          </a:p>
        </p:txBody>
      </p:sp>
    </p:spTree>
    <p:extLst>
      <p:ext uri="{BB962C8B-B14F-4D97-AF65-F5344CB8AC3E}">
        <p14:creationId xmlns:p14="http://schemas.microsoft.com/office/powerpoint/2010/main" val="694774370"/>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791265-5414-459A-80BC-DDE4A007F3E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Cross-attention fusion</a:t>
            </a:r>
          </a:p>
        </p:txBody>
      </p:sp>
      <p:sp>
        <p:nvSpPr>
          <p:cNvPr id="2" name="">
            <a:extLst xmlns:a="http://schemas.openxmlformats.org/drawingml/2006/main">
              <a:ext uri="{FF2B5EF4-FFF2-40B4-BE49-F238E27FC236}">
                <a16:creationId xmlns:a16="http://schemas.microsoft.com/office/drawing/2014/main" id="{3BDFEA9E-04A0-4D66-B880-25AD637E7665}"/>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8876C2D-658A-43CE-BB9D-447B7C560051}"/>
              </a:ext>
            </a:extLst>
          </p:cNvPr>
          <p:cNvSpPr>
            <a:spLocks xmlns:a="http://schemas.openxmlformats.org/drawingml/2006/main" noGrp="1"/>
          </p:cNvSpPr>
          <p:nvPr/>
        </p:nvSpPr>
        <p:spPr>
          <a:xfrm xmlns:a="http://schemas.openxmlformats.org/drawingml/2006/main">
            <a:off x="628650" y="16002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Query</a:t>
            </a:r>
          </a:p>
        </p:txBody>
      </p:sp>
      <p:sp>
        <p:nvSpPr>
          <p:cNvPr id="4" name="">
            <a:extLst xmlns:a="http://schemas.openxmlformats.org/drawingml/2006/main">
              <a:ext uri="{FF2B5EF4-FFF2-40B4-BE49-F238E27FC236}">
                <a16:creationId xmlns:a16="http://schemas.microsoft.com/office/drawing/2014/main" id="{368326C6-F595-430E-97C6-D24F221490C8}"/>
              </a:ext>
            </a:extLst>
          </p:cNvPr>
          <p:cNvSpPr>
            <a:spLocks xmlns:a="http://schemas.openxmlformats.org/drawingml/2006/main" noGrp="1"/>
          </p:cNvSpPr>
          <p:nvPr/>
        </p:nvSpPr>
        <p:spPr>
          <a:xfrm xmlns:a="http://schemas.openxmlformats.org/drawingml/2006/main">
            <a:off x="3714750" y="160020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The temporal encoder supplies a 64-dimensional representation of recent market history.</a:t>
            </a:r>
          </a:p>
        </p:txBody>
      </p:sp>
      <p:sp>
        <p:nvSpPr>
          <p:cNvPr id="5" name="">
            <a:extLst xmlns:a="http://schemas.openxmlformats.org/drawingml/2006/main">
              <a:ext uri="{FF2B5EF4-FFF2-40B4-BE49-F238E27FC236}">
                <a16:creationId xmlns:a16="http://schemas.microsoft.com/office/drawing/2014/main" id="{9C0930AB-B40D-4047-8C6A-1E4D79484709}"/>
              </a:ext>
            </a:extLst>
          </p:cNvPr>
          <p:cNvSpPr>
            <a:spLocks xmlns:a="http://schemas.openxmlformats.org/drawingml/2006/main" noGrp="1"/>
          </p:cNvSpPr>
          <p:nvPr/>
        </p:nvSpPr>
        <p:spPr>
          <a:xfrm xmlns:a="http://schemas.openxmlformats.org/drawingml/2006/main">
            <a:off x="628650" y="29622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Keys and values</a:t>
            </a:r>
          </a:p>
        </p:txBody>
      </p:sp>
      <p:sp>
        <p:nvSpPr>
          <p:cNvPr id="6" name="">
            <a:extLst xmlns:a="http://schemas.openxmlformats.org/drawingml/2006/main">
              <a:ext uri="{FF2B5EF4-FFF2-40B4-BE49-F238E27FC236}">
                <a16:creationId xmlns:a16="http://schemas.microsoft.com/office/drawing/2014/main" id="{4994CE9D-A710-4641-8752-D3FC3E107A4A}"/>
              </a:ext>
            </a:extLst>
          </p:cNvPr>
          <p:cNvSpPr>
            <a:spLocks xmlns:a="http://schemas.openxmlformats.org/drawingml/2006/main" noGrp="1"/>
          </p:cNvSpPr>
          <p:nvPr/>
        </p:nvSpPr>
        <p:spPr>
          <a:xfrm xmlns:a="http://schemas.openxmlformats.org/drawingml/2006/main">
            <a:off x="3714750" y="2962275"/>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The spatial encoder supplies five sector-node representations for attention.</a:t>
            </a:r>
          </a:p>
        </p:txBody>
      </p:sp>
      <p:sp>
        <p:nvSpPr>
          <p:cNvPr id="7" name="">
            <a:extLst xmlns:a="http://schemas.openxmlformats.org/drawingml/2006/main">
              <a:ext uri="{FF2B5EF4-FFF2-40B4-BE49-F238E27FC236}">
                <a16:creationId xmlns:a16="http://schemas.microsoft.com/office/drawing/2014/main" id="{0B022E57-4DB0-463A-BDBF-548D6F33FF9F}"/>
              </a:ext>
            </a:extLst>
          </p:cNvPr>
          <p:cNvSpPr>
            <a:spLocks xmlns:a="http://schemas.openxmlformats.org/drawingml/2006/main" noGrp="1"/>
          </p:cNvSpPr>
          <p:nvPr/>
        </p:nvSpPr>
        <p:spPr>
          <a:xfrm xmlns:a="http://schemas.openxmlformats.org/drawingml/2006/main">
            <a:off x="628650" y="43243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Regression head</a:t>
            </a:r>
          </a:p>
        </p:txBody>
      </p:sp>
      <p:sp>
        <p:nvSpPr>
          <p:cNvPr id="8" name="">
            <a:extLst xmlns:a="http://schemas.openxmlformats.org/drawingml/2006/main">
              <a:ext uri="{FF2B5EF4-FFF2-40B4-BE49-F238E27FC236}">
                <a16:creationId xmlns:a16="http://schemas.microsoft.com/office/drawing/2014/main" id="{B6A87050-B41B-4600-B749-4288264E9DCF}"/>
              </a:ext>
            </a:extLst>
          </p:cNvPr>
          <p:cNvSpPr>
            <a:spLocks xmlns:a="http://schemas.openxmlformats.org/drawingml/2006/main" noGrp="1"/>
          </p:cNvSpPr>
          <p:nvPr/>
        </p:nvSpPr>
        <p:spPr>
          <a:xfrm xmlns:a="http://schemas.openxmlformats.org/drawingml/2006/main">
            <a:off x="3714750" y="432435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The fused representation passes through 64-to-32 and 32-to-1 linear layers with ReLU and 20% dropout.</a:t>
            </a:r>
          </a:p>
        </p:txBody>
      </p:sp>
    </p:spTree>
    <p:extLst>
      <p:ext uri="{BB962C8B-B14F-4D97-AF65-F5344CB8AC3E}">
        <p14:creationId xmlns:p14="http://schemas.microsoft.com/office/powerpoint/2010/main" val="15348733"/>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9C1956-2039-4797-A031-7311943AF7F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Training and ablation design</a:t>
            </a:r>
          </a:p>
        </p:txBody>
      </p:sp>
      <p:sp>
        <p:nvSpPr>
          <p:cNvPr id="2" name="">
            <a:extLst xmlns:a="http://schemas.openxmlformats.org/drawingml/2006/main">
              <a:ext uri="{FF2B5EF4-FFF2-40B4-BE49-F238E27FC236}">
                <a16:creationId xmlns:a16="http://schemas.microsoft.com/office/drawing/2014/main" id="{E80D7CE9-A877-421C-9565-3F6E4094660C}"/>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AD71AF1C-2E98-4313-8E47-51B3B2238C17}"/>
              </a:ext>
            </a:extLst>
          </p:cNvPr>
          <p:cNvSpPr>
            <a:spLocks xmlns:a="http://schemas.openxmlformats.org/drawingml/2006/main" noGrp="1"/>
          </p:cNvSpPr>
          <p:nvPr/>
        </p:nvSpPr>
        <p:spPr>
          <a:xfrm xmlns:a="http://schemas.openxmlformats.org/drawingml/2006/main">
            <a:off x="628650" y="16002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Optimization</a:t>
            </a:r>
          </a:p>
        </p:txBody>
      </p:sp>
      <p:sp>
        <p:nvSpPr>
          <p:cNvPr id="4" name="">
            <a:extLst xmlns:a="http://schemas.openxmlformats.org/drawingml/2006/main">
              <a:ext uri="{FF2B5EF4-FFF2-40B4-BE49-F238E27FC236}">
                <a16:creationId xmlns:a16="http://schemas.microsoft.com/office/drawing/2014/main" id="{4A74A423-DE1C-42C4-B6F8-00AA0911DEAD}"/>
              </a:ext>
            </a:extLst>
          </p:cNvPr>
          <p:cNvSpPr>
            <a:spLocks xmlns:a="http://schemas.openxmlformats.org/drawingml/2006/main" noGrp="1"/>
          </p:cNvSpPr>
          <p:nvPr/>
        </p:nvSpPr>
        <p:spPr>
          <a:xfrm xmlns:a="http://schemas.openxmlformats.org/drawingml/2006/main">
            <a:off x="3714750" y="160020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PyTorch on NVIDIA hardware with automatic mixed precision. AdamW uses learning rate 0.0001 and weight decay 0.0001.</a:t>
            </a:r>
          </a:p>
        </p:txBody>
      </p:sp>
      <p:sp>
        <p:nvSpPr>
          <p:cNvPr id="5" name="">
            <a:extLst xmlns:a="http://schemas.openxmlformats.org/drawingml/2006/main">
              <a:ext uri="{FF2B5EF4-FFF2-40B4-BE49-F238E27FC236}">
                <a16:creationId xmlns:a16="http://schemas.microsoft.com/office/drawing/2014/main" id="{A739EBD9-C3BD-4B20-88F3-40A7D18F810D}"/>
              </a:ext>
            </a:extLst>
          </p:cNvPr>
          <p:cNvSpPr>
            <a:spLocks xmlns:a="http://schemas.openxmlformats.org/drawingml/2006/main" noGrp="1"/>
          </p:cNvSpPr>
          <p:nvPr/>
        </p:nvSpPr>
        <p:spPr>
          <a:xfrm xmlns:a="http://schemas.openxmlformats.org/drawingml/2006/main">
            <a:off x="628650" y="29622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Loss and metrics</a:t>
            </a:r>
          </a:p>
        </p:txBody>
      </p:sp>
      <p:sp>
        <p:nvSpPr>
          <p:cNvPr id="6" name="">
            <a:extLst xmlns:a="http://schemas.openxmlformats.org/drawingml/2006/main">
              <a:ext uri="{FF2B5EF4-FFF2-40B4-BE49-F238E27FC236}">
                <a16:creationId xmlns:a16="http://schemas.microsoft.com/office/drawing/2014/main" id="{351B65A3-52B4-4A67-92D6-A7EA3221D760}"/>
              </a:ext>
            </a:extLst>
          </p:cNvPr>
          <p:cNvSpPr>
            <a:spLocks xmlns:a="http://schemas.openxmlformats.org/drawingml/2006/main" noGrp="1"/>
          </p:cNvSpPr>
          <p:nvPr/>
        </p:nvSpPr>
        <p:spPr>
          <a:xfrm xmlns:a="http://schemas.openxmlformats.org/drawingml/2006/main">
            <a:off x="3714750" y="2962275"/>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Training minimizes MSE. The report evaluates test RMSE and explained variance, R².</a:t>
            </a:r>
          </a:p>
        </p:txBody>
      </p:sp>
      <p:sp>
        <p:nvSpPr>
          <p:cNvPr id="7" name="">
            <a:extLst xmlns:a="http://schemas.openxmlformats.org/drawingml/2006/main">
              <a:ext uri="{FF2B5EF4-FFF2-40B4-BE49-F238E27FC236}">
                <a16:creationId xmlns:a16="http://schemas.microsoft.com/office/drawing/2014/main" id="{802280C0-616F-43CD-969B-A126FDE92446}"/>
              </a:ext>
            </a:extLst>
          </p:cNvPr>
          <p:cNvSpPr>
            <a:spLocks xmlns:a="http://schemas.openxmlformats.org/drawingml/2006/main" noGrp="1"/>
          </p:cNvSpPr>
          <p:nvPr/>
        </p:nvSpPr>
        <p:spPr>
          <a:xfrm xmlns:a="http://schemas.openxmlformats.org/drawingml/2006/main">
            <a:off x="628650" y="43243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Comparison</a:t>
            </a:r>
          </a:p>
        </p:txBody>
      </p:sp>
      <p:sp>
        <p:nvSpPr>
          <p:cNvPr id="8" name="">
            <a:extLst xmlns:a="http://schemas.openxmlformats.org/drawingml/2006/main">
              <a:ext uri="{FF2B5EF4-FFF2-40B4-BE49-F238E27FC236}">
                <a16:creationId xmlns:a16="http://schemas.microsoft.com/office/drawing/2014/main" id="{006B43BF-0172-48A5-ABFD-FD38E57E96E3}"/>
              </a:ext>
            </a:extLst>
          </p:cNvPr>
          <p:cNvSpPr>
            <a:spLocks xmlns:a="http://schemas.openxmlformats.org/drawingml/2006/main" noGrp="1"/>
          </p:cNvSpPr>
          <p:nvPr/>
        </p:nvSpPr>
        <p:spPr>
          <a:xfrm xmlns:a="http://schemas.openxmlformats.org/drawingml/2006/main">
            <a:off x="3714750" y="432435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Three independent runs for each of the temporal, spatial, and fused architectures.</a:t>
            </a:r>
          </a:p>
        </p:txBody>
      </p:sp>
    </p:spTree>
    <p:extLst>
      <p:ext uri="{BB962C8B-B14F-4D97-AF65-F5344CB8AC3E}">
        <p14:creationId xmlns:p14="http://schemas.microsoft.com/office/powerpoint/2010/main" val="1563610088"/>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B1DA96-4198-4861-B468-678A7566540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Training and validation convergence</a:t>
            </a:r>
          </a:p>
        </p:txBody>
      </p:sp>
      <p:sp>
        <p:nvSpPr>
          <p:cNvPr id="2" name="">
            <a:extLst xmlns:a="http://schemas.openxmlformats.org/drawingml/2006/main">
              <a:ext uri="{FF2B5EF4-FFF2-40B4-BE49-F238E27FC236}">
                <a16:creationId xmlns:a16="http://schemas.microsoft.com/office/drawing/2014/main" id="{66F612CD-AFFD-4C90-9254-3CA54EDEDFEA}"/>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EF775D30-B396-4823-B3AA-E79A1B4E6239}"/>
              </a:ext>
            </a:extLst>
          </p:cNvPr>
          <p:cNvPicPr>
            <a:picLocks xmlns:a="http://schemas.openxmlformats.org/drawingml/2006/main" noChangeAspect="1"/>
          </p:cNvPicPr>
          <p:nvPr/>
        </p:nvPicPr>
        <p:blipFill>
          <a:blip xmlns:r="http://schemas.openxmlformats.org/officeDocument/2006/relationships" xmlns:a="http://schemas.openxmlformats.org/drawingml/2006/main" r:embed="Rd2f19959e69d4aff"/>
          <a:stretch xmlns:a="http://schemas.openxmlformats.org/drawingml/2006/main"/>
        </p:blipFill>
        <p:spPr>
          <a:xfrm xmlns:a="http://schemas.openxmlformats.org/drawingml/2006/main">
            <a:off x="1172415" y="1352550"/>
            <a:ext cx="9847169"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9BBFC1A-19C3-45C6-9BCC-1D3819CF6049}"/>
              </a:ext>
            </a:extLst>
          </p:cNvPr>
          <p:cNvSpPr>
            <a:spLocks xmlns:a="http://schemas.openxmlformats.org/drawingml/2006/main" noGrp="1"/>
          </p:cNvSpPr>
          <p:nvPr/>
        </p:nvSpPr>
        <p:spPr>
          <a:xfrm xmlns:a="http://schemas.openxmlformats.org/drawingml/2006/main">
            <a:off x="685800" y="60198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7E87"/>
                </a:solidFill>
                <a:latin typeface="Arial"/>
                <a:ea typeface="Arial"/>
                <a:cs typeface="Arial"/>
              </a:defRPr>
            </a:defPPr>
          </a:lstStyle>
          <a:p xmlns:a="http://schemas.openxmlformats.org/drawingml/2006/main">
            <a:pPr>
              <a:defRPr sz="1875" b="1">
                <a:solidFill>
                  <a:srgbClr val="007E87"/>
                </a:solidFill>
                <a:latin typeface="Arial"/>
                <a:ea typeface="Arial"/>
                <a:cs typeface="Arial"/>
              </a:defRPr>
            </a:pPr>
            <a:r>
              <a:rPr sz="1875" b="1">
                <a:solidFill>
                  <a:srgbClr val="007E87"/>
                </a:solidFill>
                <a:latin typeface="Arial"/>
                <a:ea typeface="Arial"/>
                <a:cs typeface="Arial"/>
              </a:rPr>
              <a:t>The temporal baseline reaches the lowest error floor in the reported curves.</a:t>
            </a:r>
          </a:p>
        </p:txBody>
      </p:sp>
    </p:spTree>
    <p:extLst>
      <p:ext uri="{BB962C8B-B14F-4D97-AF65-F5344CB8AC3E}">
        <p14:creationId xmlns:p14="http://schemas.microsoft.com/office/powerpoint/2010/main" val="934323924"/>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CF28E5-F5FD-49B8-B79F-D64CF571DDD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Results across three independent runs</a:t>
            </a:r>
          </a:p>
        </p:txBody>
      </p:sp>
      <p:sp>
        <p:nvSpPr>
          <p:cNvPr id="2" name="">
            <a:extLst xmlns:a="http://schemas.openxmlformats.org/drawingml/2006/main">
              <a:ext uri="{FF2B5EF4-FFF2-40B4-BE49-F238E27FC236}">
                <a16:creationId xmlns:a16="http://schemas.microsoft.com/office/drawing/2014/main" id="{97021C87-D0FE-4F31-9639-F6EE370AC838}"/>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9F8898E1-657E-4FCD-9B8A-9F167885A552}"/>
              </a:ext>
            </a:extLst>
          </p:cNvPr>
          <p:cNvGraphicFramePr/>
          <p:nvPr/>
        </p:nvGraphicFramePr>
        <p:xfrm>
          <a:off xmlns:a="http://schemas.openxmlformats.org/drawingml/2006/main" x="685800" y="1400175"/>
          <a:ext xmlns:a="http://schemas.openxmlformats.org/drawingml/2006/main" cx="10820400" cy="4381500"/>
        </p:xfrm>
        <a:graphic xmlns:a="http://schemas.openxmlformats.org/drawingml/2006/main">
          <a:graphicData uri="http://schemas.openxmlformats.org/drawingml/2006/table">
            <a:tbl>
              <a:tblPr/>
              <a:tblGrid>
                <a:gridCol w="5524500"/>
                <a:gridCol w="2647950"/>
                <a:gridCol w="2647950"/>
              </a:tblGrid>
              <a:tr h="438150">
                <a:tc>
                  <a:txBody>
                    <a:bodyPr/>
                    <a:lstStyle/>
                    <a:p>
                      <a:r>
                        <a:rPr sz="1725" b="1">
                          <a:solidFill>
                            <a:srgbClr val="FFFFFF"/>
                          </a:solidFill>
                          <a:latin typeface="Arial"/>
                          <a:ea typeface="Arial"/>
                          <a:cs typeface="Arial"/>
                        </a:rPr>
                        <a:t>Architecture / run</a:t>
                      </a:r>
                    </a:p>
                  </a:txBody>
                  <a:tcPr marL="91440" marR="91440" marT="45720" marB="45720">
                    <a:lnL w="9525">
                      <a:solidFill>
                        <a:srgbClr val="D9E2E8"/>
                      </a:solidFill>
                      <a:prstDash val="solid"/>
                    </a:lnL>
                    <a:lnR w="9525">
                      <a:solidFill>
                        <a:srgbClr val="D9E2E8"/>
                      </a:solidFill>
                      <a:prstDash val="solid"/>
                    </a:lnR>
                    <a:lnT w="9525">
                      <a:solidFill>
                        <a:srgbClr val="D9E2E8"/>
                      </a:solidFill>
                      <a:prstDash val="solid"/>
                    </a:lnT>
                    <a:lnB w="9525">
                      <a:solidFill>
                        <a:srgbClr val="D9E2E8"/>
                      </a:solidFill>
                      <a:prstDash val="solid"/>
                    </a:lnB>
                    <a:solidFill>
                      <a:srgbClr val="10263C"/>
                    </a:solidFill>
                  </a:tcPr>
                </a:tc>
                <a:tc>
                  <a:txBody>
                    <a:bodyPr/>
                    <a:lstStyle/>
                    <a:p>
                      <a:r>
                        <a:rPr sz="1725" b="1">
                          <a:solidFill>
                            <a:srgbClr val="FFFFFF"/>
                          </a:solidFill>
                          <a:latin typeface="Arial"/>
                          <a:ea typeface="Arial"/>
                          <a:cs typeface="Arial"/>
                        </a:rPr>
                        <a:t>Test RMSE</a:t>
                      </a:r>
                    </a:p>
                  </a:txBody>
                  <a:tcPr marL="91440" marR="91440" marT="45720" marB="45720">
                    <a:lnR w="9525">
                      <a:solidFill>
                        <a:srgbClr val="D9E2E8"/>
                      </a:solidFill>
                      <a:prstDash val="solid"/>
                    </a:lnR>
                    <a:lnT w="9525">
                      <a:solidFill>
                        <a:srgbClr val="D9E2E8"/>
                      </a:solidFill>
                      <a:prstDash val="solid"/>
                    </a:lnT>
                    <a:lnB w="9525">
                      <a:solidFill>
                        <a:srgbClr val="D9E2E8"/>
                      </a:solidFill>
                      <a:prstDash val="solid"/>
                    </a:lnB>
                    <a:solidFill>
                      <a:srgbClr val="10263C"/>
                    </a:solidFill>
                  </a:tcPr>
                </a:tc>
                <a:tc>
                  <a:txBody>
                    <a:bodyPr/>
                    <a:lstStyle/>
                    <a:p>
                      <a:r>
                        <a:rPr sz="1725" b="1">
                          <a:solidFill>
                            <a:srgbClr val="FFFFFF"/>
                          </a:solidFill>
                          <a:latin typeface="Arial"/>
                          <a:ea typeface="Arial"/>
                          <a:cs typeface="Arial"/>
                        </a:rPr>
                        <a:t>R² (%)</a:t>
                      </a:r>
                    </a:p>
                  </a:txBody>
                  <a:tcPr marL="91440" marR="91440" marT="45720" marB="45720">
                    <a:lnR w="9525">
                      <a:solidFill>
                        <a:srgbClr val="D9E2E8"/>
                      </a:solidFill>
                      <a:prstDash val="solid"/>
                    </a:lnR>
                    <a:lnT w="9525">
                      <a:solidFill>
                        <a:srgbClr val="D9E2E8"/>
                      </a:solidFill>
                      <a:prstDash val="solid"/>
                    </a:lnT>
                    <a:lnB w="9525">
                      <a:solidFill>
                        <a:srgbClr val="D9E2E8"/>
                      </a:solidFill>
                      <a:prstDash val="solid"/>
                    </a:lnB>
                    <a:solidFill>
                      <a:srgbClr val="10263C"/>
                    </a:solidFill>
                  </a:tcPr>
                </a:tc>
              </a:tr>
              <a:tr h="438150">
                <a:tc>
                  <a:txBody>
                    <a:bodyPr/>
                    <a:lstStyle/>
                    <a:p>
                      <a:r>
                        <a:rPr sz="1725" b="0">
                          <a:solidFill>
                            <a:srgbClr val="193248"/>
                          </a:solidFill>
                          <a:latin typeface="Arial"/>
                          <a:ea typeface="Arial"/>
                          <a:cs typeface="Arial"/>
                        </a:rPr>
                        <a:t>Temporal / 1</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FFFFFF"/>
                    </a:solidFill>
                  </a:tcPr>
                </a:tc>
                <a:tc>
                  <a:txBody>
                    <a:bodyPr/>
                    <a:lstStyle/>
                    <a:p>
                      <a:r>
                        <a:rPr sz="1725" b="0">
                          <a:solidFill>
                            <a:srgbClr val="193248"/>
                          </a:solidFill>
                          <a:latin typeface="Arial"/>
                          <a:ea typeface="Arial"/>
                          <a:cs typeface="Arial"/>
                        </a:rPr>
                        <a:t>0.075218</a:t>
                      </a:r>
                    </a:p>
                  </a:txBody>
                  <a:tcPr marL="91440" marR="91440" marT="45720" marB="45720">
                    <a:lnR w="9525">
                      <a:solidFill>
                        <a:srgbClr val="D9E2E8"/>
                      </a:solidFill>
                      <a:prstDash val="solid"/>
                    </a:lnR>
                    <a:lnB w="9525">
                      <a:solidFill>
                        <a:srgbClr val="D9E2E8"/>
                      </a:solidFill>
                      <a:prstDash val="solid"/>
                    </a:lnB>
                    <a:solidFill>
                      <a:srgbClr val="FFFFFF"/>
                    </a:solidFill>
                  </a:tcPr>
                </a:tc>
                <a:tc>
                  <a:txBody>
                    <a:bodyPr/>
                    <a:lstStyle/>
                    <a:p>
                      <a:r>
                        <a:rPr sz="1725" b="0">
                          <a:solidFill>
                            <a:srgbClr val="193248"/>
                          </a:solidFill>
                          <a:latin typeface="Arial"/>
                          <a:ea typeface="Arial"/>
                          <a:cs typeface="Arial"/>
                        </a:rPr>
                        <a:t>99.43</a:t>
                      </a:r>
                    </a:p>
                  </a:txBody>
                  <a:tcPr marL="91440" marR="91440" marT="45720" marB="45720">
                    <a:lnR w="9525">
                      <a:solidFill>
                        <a:srgbClr val="D9E2E8"/>
                      </a:solidFill>
                      <a:prstDash val="solid"/>
                    </a:lnR>
                    <a:lnB w="9525">
                      <a:solidFill>
                        <a:srgbClr val="D9E2E8"/>
                      </a:solidFill>
                      <a:prstDash val="solid"/>
                    </a:lnB>
                    <a:solidFill>
                      <a:srgbClr val="FFFFFF"/>
                    </a:solidFill>
                  </a:tcPr>
                </a:tc>
              </a:tr>
              <a:tr h="438150">
                <a:tc>
                  <a:txBody>
                    <a:bodyPr/>
                    <a:lstStyle/>
                    <a:p>
                      <a:r>
                        <a:rPr sz="1725" b="0">
                          <a:solidFill>
                            <a:srgbClr val="193248"/>
                          </a:solidFill>
                          <a:latin typeface="Arial"/>
                          <a:ea typeface="Arial"/>
                          <a:cs typeface="Arial"/>
                        </a:rPr>
                        <a:t>Temporal / 2</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AF0F4"/>
                    </a:solidFill>
                  </a:tcPr>
                </a:tc>
                <a:tc>
                  <a:txBody>
                    <a:bodyPr/>
                    <a:lstStyle/>
                    <a:p>
                      <a:r>
                        <a:rPr sz="1725" b="0">
                          <a:solidFill>
                            <a:srgbClr val="193248"/>
                          </a:solidFill>
                          <a:latin typeface="Arial"/>
                          <a:ea typeface="Arial"/>
                          <a:cs typeface="Arial"/>
                        </a:rPr>
                        <a:t>0.068198</a:t>
                      </a:r>
                    </a:p>
                  </a:txBody>
                  <a:tcPr marL="91440" marR="91440" marT="45720" marB="45720">
                    <a:lnR w="9525">
                      <a:solidFill>
                        <a:srgbClr val="D9E2E8"/>
                      </a:solidFill>
                      <a:prstDash val="solid"/>
                    </a:lnR>
                    <a:lnB w="9525">
                      <a:solidFill>
                        <a:srgbClr val="D9E2E8"/>
                      </a:solidFill>
                      <a:prstDash val="solid"/>
                    </a:lnB>
                    <a:solidFill>
                      <a:srgbClr val="EAF0F4"/>
                    </a:solidFill>
                  </a:tcPr>
                </a:tc>
                <a:tc>
                  <a:txBody>
                    <a:bodyPr/>
                    <a:lstStyle/>
                    <a:p>
                      <a:r>
                        <a:rPr sz="1725" b="0">
                          <a:solidFill>
                            <a:srgbClr val="193248"/>
                          </a:solidFill>
                          <a:latin typeface="Arial"/>
                          <a:ea typeface="Arial"/>
                          <a:cs typeface="Arial"/>
                        </a:rPr>
                        <a:t>99.54</a:t>
                      </a:r>
                    </a:p>
                  </a:txBody>
                  <a:tcPr marL="91440" marR="91440" marT="45720" marB="45720">
                    <a:lnR w="9525">
                      <a:solidFill>
                        <a:srgbClr val="D9E2E8"/>
                      </a:solidFill>
                      <a:prstDash val="solid"/>
                    </a:lnR>
                    <a:lnB w="9525">
                      <a:solidFill>
                        <a:srgbClr val="D9E2E8"/>
                      </a:solidFill>
                      <a:prstDash val="solid"/>
                    </a:lnB>
                    <a:solidFill>
                      <a:srgbClr val="EAF0F4"/>
                    </a:solidFill>
                  </a:tcPr>
                </a:tc>
              </a:tr>
              <a:tr h="438150">
                <a:tc>
                  <a:txBody>
                    <a:bodyPr/>
                    <a:lstStyle/>
                    <a:p>
                      <a:r>
                        <a:rPr sz="1725" b="0">
                          <a:solidFill>
                            <a:srgbClr val="193248"/>
                          </a:solidFill>
                          <a:latin typeface="Arial"/>
                          <a:ea typeface="Arial"/>
                          <a:cs typeface="Arial"/>
                        </a:rPr>
                        <a:t>Temporal / 3</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FFFFFF"/>
                    </a:solidFill>
                  </a:tcPr>
                </a:tc>
                <a:tc>
                  <a:txBody>
                    <a:bodyPr/>
                    <a:lstStyle/>
                    <a:p>
                      <a:r>
                        <a:rPr sz="1725" b="0">
                          <a:solidFill>
                            <a:srgbClr val="193248"/>
                          </a:solidFill>
                          <a:latin typeface="Arial"/>
                          <a:ea typeface="Arial"/>
                          <a:cs typeface="Arial"/>
                        </a:rPr>
                        <a:t>0.058068</a:t>
                      </a:r>
                    </a:p>
                  </a:txBody>
                  <a:tcPr marL="91440" marR="91440" marT="45720" marB="45720">
                    <a:lnR w="9525">
                      <a:solidFill>
                        <a:srgbClr val="D9E2E8"/>
                      </a:solidFill>
                      <a:prstDash val="solid"/>
                    </a:lnR>
                    <a:lnB w="9525">
                      <a:solidFill>
                        <a:srgbClr val="D9E2E8"/>
                      </a:solidFill>
                      <a:prstDash val="solid"/>
                    </a:lnB>
                    <a:solidFill>
                      <a:srgbClr val="FFFFFF"/>
                    </a:solidFill>
                  </a:tcPr>
                </a:tc>
                <a:tc>
                  <a:txBody>
                    <a:bodyPr/>
                    <a:lstStyle/>
                    <a:p>
                      <a:r>
                        <a:rPr sz="1725" b="0">
                          <a:solidFill>
                            <a:srgbClr val="193248"/>
                          </a:solidFill>
                          <a:latin typeface="Arial"/>
                          <a:ea typeface="Arial"/>
                          <a:cs typeface="Arial"/>
                        </a:rPr>
                        <a:t>99.66</a:t>
                      </a:r>
                    </a:p>
                  </a:txBody>
                  <a:tcPr marL="91440" marR="91440" marT="45720" marB="45720">
                    <a:lnR w="9525">
                      <a:solidFill>
                        <a:srgbClr val="D9E2E8"/>
                      </a:solidFill>
                      <a:prstDash val="solid"/>
                    </a:lnR>
                    <a:lnB w="9525">
                      <a:solidFill>
                        <a:srgbClr val="D9E2E8"/>
                      </a:solidFill>
                      <a:prstDash val="solid"/>
                    </a:lnB>
                    <a:solidFill>
                      <a:srgbClr val="FFFFFF"/>
                    </a:solidFill>
                  </a:tcPr>
                </a:tc>
              </a:tr>
              <a:tr h="438150">
                <a:tc>
                  <a:txBody>
                    <a:bodyPr/>
                    <a:lstStyle/>
                    <a:p>
                      <a:r>
                        <a:rPr sz="1725" b="0">
                          <a:solidFill>
                            <a:srgbClr val="193248"/>
                          </a:solidFill>
                          <a:latin typeface="Arial"/>
                          <a:ea typeface="Arial"/>
                          <a:cs typeface="Arial"/>
                        </a:rPr>
                        <a:t>Spatial GNN / 1</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AF0F4"/>
                    </a:solidFill>
                  </a:tcPr>
                </a:tc>
                <a:tc>
                  <a:txBody>
                    <a:bodyPr/>
                    <a:lstStyle/>
                    <a:p>
                      <a:r>
                        <a:rPr sz="1725" b="0">
                          <a:solidFill>
                            <a:srgbClr val="193248"/>
                          </a:solidFill>
                          <a:latin typeface="Arial"/>
                          <a:ea typeface="Arial"/>
                          <a:cs typeface="Arial"/>
                        </a:rPr>
                        <a:t>0.160945</a:t>
                      </a:r>
                    </a:p>
                  </a:txBody>
                  <a:tcPr marL="91440" marR="91440" marT="45720" marB="45720">
                    <a:lnR w="9525">
                      <a:solidFill>
                        <a:srgbClr val="D9E2E8"/>
                      </a:solidFill>
                      <a:prstDash val="solid"/>
                    </a:lnR>
                    <a:lnB w="9525">
                      <a:solidFill>
                        <a:srgbClr val="D9E2E8"/>
                      </a:solidFill>
                      <a:prstDash val="solid"/>
                    </a:lnB>
                    <a:solidFill>
                      <a:srgbClr val="EAF0F4"/>
                    </a:solidFill>
                  </a:tcPr>
                </a:tc>
                <a:tc>
                  <a:txBody>
                    <a:bodyPr/>
                    <a:lstStyle/>
                    <a:p>
                      <a:r>
                        <a:rPr sz="1725" b="0">
                          <a:solidFill>
                            <a:srgbClr val="193248"/>
                          </a:solidFill>
                          <a:latin typeface="Arial"/>
                          <a:ea typeface="Arial"/>
                          <a:cs typeface="Arial"/>
                        </a:rPr>
                        <a:t>97.41</a:t>
                      </a:r>
                    </a:p>
                  </a:txBody>
                  <a:tcPr marL="91440" marR="91440" marT="45720" marB="45720">
                    <a:lnR w="9525">
                      <a:solidFill>
                        <a:srgbClr val="D9E2E8"/>
                      </a:solidFill>
                      <a:prstDash val="solid"/>
                    </a:lnR>
                    <a:lnB w="9525">
                      <a:solidFill>
                        <a:srgbClr val="D9E2E8"/>
                      </a:solidFill>
                      <a:prstDash val="solid"/>
                    </a:lnB>
                    <a:solidFill>
                      <a:srgbClr val="EAF0F4"/>
                    </a:solidFill>
                  </a:tcPr>
                </a:tc>
              </a:tr>
              <a:tr h="438150">
                <a:tc>
                  <a:txBody>
                    <a:bodyPr/>
                    <a:lstStyle/>
                    <a:p>
                      <a:r>
                        <a:rPr sz="1725" b="0">
                          <a:solidFill>
                            <a:srgbClr val="193248"/>
                          </a:solidFill>
                          <a:latin typeface="Arial"/>
                          <a:ea typeface="Arial"/>
                          <a:cs typeface="Arial"/>
                        </a:rPr>
                        <a:t>Spatial GNN / 2</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FFFFFF"/>
                    </a:solidFill>
                  </a:tcPr>
                </a:tc>
                <a:tc>
                  <a:txBody>
                    <a:bodyPr/>
                    <a:lstStyle/>
                    <a:p>
                      <a:r>
                        <a:rPr sz="1725" b="0">
                          <a:solidFill>
                            <a:srgbClr val="193248"/>
                          </a:solidFill>
                          <a:latin typeface="Arial"/>
                          <a:ea typeface="Arial"/>
                          <a:cs typeface="Arial"/>
                        </a:rPr>
                        <a:t>0.155095</a:t>
                      </a:r>
                    </a:p>
                  </a:txBody>
                  <a:tcPr marL="91440" marR="91440" marT="45720" marB="45720">
                    <a:lnR w="9525">
                      <a:solidFill>
                        <a:srgbClr val="D9E2E8"/>
                      </a:solidFill>
                      <a:prstDash val="solid"/>
                    </a:lnR>
                    <a:lnB w="9525">
                      <a:solidFill>
                        <a:srgbClr val="D9E2E8"/>
                      </a:solidFill>
                      <a:prstDash val="solid"/>
                    </a:lnB>
                    <a:solidFill>
                      <a:srgbClr val="FFFFFF"/>
                    </a:solidFill>
                  </a:tcPr>
                </a:tc>
                <a:tc>
                  <a:txBody>
                    <a:bodyPr/>
                    <a:lstStyle/>
                    <a:p>
                      <a:r>
                        <a:rPr sz="1725" b="0">
                          <a:solidFill>
                            <a:srgbClr val="193248"/>
                          </a:solidFill>
                          <a:latin typeface="Arial"/>
                          <a:ea typeface="Arial"/>
                          <a:cs typeface="Arial"/>
                        </a:rPr>
                        <a:t>97.60</a:t>
                      </a:r>
                    </a:p>
                  </a:txBody>
                  <a:tcPr marL="91440" marR="91440" marT="45720" marB="45720">
                    <a:lnR w="9525">
                      <a:solidFill>
                        <a:srgbClr val="D9E2E8"/>
                      </a:solidFill>
                      <a:prstDash val="solid"/>
                    </a:lnR>
                    <a:lnB w="9525">
                      <a:solidFill>
                        <a:srgbClr val="D9E2E8"/>
                      </a:solidFill>
                      <a:prstDash val="solid"/>
                    </a:lnB>
                    <a:solidFill>
                      <a:srgbClr val="FFFFFF"/>
                    </a:solidFill>
                  </a:tcPr>
                </a:tc>
              </a:tr>
              <a:tr h="438150">
                <a:tc>
                  <a:txBody>
                    <a:bodyPr/>
                    <a:lstStyle/>
                    <a:p>
                      <a:r>
                        <a:rPr sz="1725" b="0">
                          <a:solidFill>
                            <a:srgbClr val="193248"/>
                          </a:solidFill>
                          <a:latin typeface="Arial"/>
                          <a:ea typeface="Arial"/>
                          <a:cs typeface="Arial"/>
                        </a:rPr>
                        <a:t>Spatial GNN / 3</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AF0F4"/>
                    </a:solidFill>
                  </a:tcPr>
                </a:tc>
                <a:tc>
                  <a:txBody>
                    <a:bodyPr/>
                    <a:lstStyle/>
                    <a:p>
                      <a:r>
                        <a:rPr sz="1725" b="0">
                          <a:solidFill>
                            <a:srgbClr val="193248"/>
                          </a:solidFill>
                          <a:latin typeface="Arial"/>
                          <a:ea typeface="Arial"/>
                          <a:cs typeface="Arial"/>
                        </a:rPr>
                        <a:t>0.144723</a:t>
                      </a:r>
                    </a:p>
                  </a:txBody>
                  <a:tcPr marL="91440" marR="91440" marT="45720" marB="45720">
                    <a:lnR w="9525">
                      <a:solidFill>
                        <a:srgbClr val="D9E2E8"/>
                      </a:solidFill>
                      <a:prstDash val="solid"/>
                    </a:lnR>
                    <a:lnB w="9525">
                      <a:solidFill>
                        <a:srgbClr val="D9E2E8"/>
                      </a:solidFill>
                      <a:prstDash val="solid"/>
                    </a:lnB>
                    <a:solidFill>
                      <a:srgbClr val="EAF0F4"/>
                    </a:solidFill>
                  </a:tcPr>
                </a:tc>
                <a:tc>
                  <a:txBody>
                    <a:bodyPr/>
                    <a:lstStyle/>
                    <a:p>
                      <a:r>
                        <a:rPr sz="1725" b="0">
                          <a:solidFill>
                            <a:srgbClr val="193248"/>
                          </a:solidFill>
                          <a:latin typeface="Arial"/>
                          <a:ea typeface="Arial"/>
                          <a:cs typeface="Arial"/>
                        </a:rPr>
                        <a:t>97.91</a:t>
                      </a:r>
                    </a:p>
                  </a:txBody>
                  <a:tcPr marL="91440" marR="91440" marT="45720" marB="45720">
                    <a:lnR w="9525">
                      <a:solidFill>
                        <a:srgbClr val="D9E2E8"/>
                      </a:solidFill>
                      <a:prstDash val="solid"/>
                    </a:lnR>
                    <a:lnB w="9525">
                      <a:solidFill>
                        <a:srgbClr val="D9E2E8"/>
                      </a:solidFill>
                      <a:prstDash val="solid"/>
                    </a:lnB>
                    <a:solidFill>
                      <a:srgbClr val="EAF0F4"/>
                    </a:solidFill>
                  </a:tcPr>
                </a:tc>
              </a:tr>
              <a:tr h="438150">
                <a:tc>
                  <a:txBody>
                    <a:bodyPr/>
                    <a:lstStyle/>
                    <a:p>
                      <a:r>
                        <a:rPr sz="1725" b="0">
                          <a:solidFill>
                            <a:srgbClr val="193248"/>
                          </a:solidFill>
                          <a:latin typeface="Arial"/>
                          <a:ea typeface="Arial"/>
                          <a:cs typeface="Arial"/>
                        </a:rPr>
                        <a:t>FusionNet / 1</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FFFFFF"/>
                    </a:solidFill>
                  </a:tcPr>
                </a:tc>
                <a:tc>
                  <a:txBody>
                    <a:bodyPr/>
                    <a:lstStyle/>
                    <a:p>
                      <a:r>
                        <a:rPr sz="1725" b="0">
                          <a:solidFill>
                            <a:srgbClr val="193248"/>
                          </a:solidFill>
                          <a:latin typeface="Arial"/>
                          <a:ea typeface="Arial"/>
                          <a:cs typeface="Arial"/>
                        </a:rPr>
                        <a:t>0.151034</a:t>
                      </a:r>
                    </a:p>
                  </a:txBody>
                  <a:tcPr marL="91440" marR="91440" marT="45720" marB="45720">
                    <a:lnR w="9525">
                      <a:solidFill>
                        <a:srgbClr val="D9E2E8"/>
                      </a:solidFill>
                      <a:prstDash val="solid"/>
                    </a:lnR>
                    <a:lnB w="9525">
                      <a:solidFill>
                        <a:srgbClr val="D9E2E8"/>
                      </a:solidFill>
                      <a:prstDash val="solid"/>
                    </a:lnB>
                    <a:solidFill>
                      <a:srgbClr val="FFFFFF"/>
                    </a:solidFill>
                  </a:tcPr>
                </a:tc>
                <a:tc>
                  <a:txBody>
                    <a:bodyPr/>
                    <a:lstStyle/>
                    <a:p>
                      <a:r>
                        <a:rPr sz="1725" b="0">
                          <a:solidFill>
                            <a:srgbClr val="193248"/>
                          </a:solidFill>
                          <a:latin typeface="Arial"/>
                          <a:ea typeface="Arial"/>
                          <a:cs typeface="Arial"/>
                        </a:rPr>
                        <a:t>97.72</a:t>
                      </a:r>
                    </a:p>
                  </a:txBody>
                  <a:tcPr marL="91440" marR="91440" marT="45720" marB="45720">
                    <a:lnR w="9525">
                      <a:solidFill>
                        <a:srgbClr val="D9E2E8"/>
                      </a:solidFill>
                      <a:prstDash val="solid"/>
                    </a:lnR>
                    <a:lnB w="9525">
                      <a:solidFill>
                        <a:srgbClr val="D9E2E8"/>
                      </a:solidFill>
                      <a:prstDash val="solid"/>
                    </a:lnB>
                    <a:solidFill>
                      <a:srgbClr val="FFFFFF"/>
                    </a:solidFill>
                  </a:tcPr>
                </a:tc>
              </a:tr>
              <a:tr h="438150">
                <a:tc>
                  <a:txBody>
                    <a:bodyPr/>
                    <a:lstStyle/>
                    <a:p>
                      <a:r>
                        <a:rPr sz="1725" b="0">
                          <a:solidFill>
                            <a:srgbClr val="193248"/>
                          </a:solidFill>
                          <a:latin typeface="Arial"/>
                          <a:ea typeface="Arial"/>
                          <a:cs typeface="Arial"/>
                        </a:rPr>
                        <a:t>FusionNet / 2</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AF0F4"/>
                    </a:solidFill>
                  </a:tcPr>
                </a:tc>
                <a:tc>
                  <a:txBody>
                    <a:bodyPr/>
                    <a:lstStyle/>
                    <a:p>
                      <a:r>
                        <a:rPr sz="1725" b="0">
                          <a:solidFill>
                            <a:srgbClr val="193248"/>
                          </a:solidFill>
                          <a:latin typeface="Arial"/>
                          <a:ea typeface="Arial"/>
                          <a:cs typeface="Arial"/>
                        </a:rPr>
                        <a:t>0.166739</a:t>
                      </a:r>
                    </a:p>
                  </a:txBody>
                  <a:tcPr marL="91440" marR="91440" marT="45720" marB="45720">
                    <a:lnR w="9525">
                      <a:solidFill>
                        <a:srgbClr val="D9E2E8"/>
                      </a:solidFill>
                      <a:prstDash val="solid"/>
                    </a:lnR>
                    <a:lnB w="9525">
                      <a:solidFill>
                        <a:srgbClr val="D9E2E8"/>
                      </a:solidFill>
                      <a:prstDash val="solid"/>
                    </a:lnB>
                    <a:solidFill>
                      <a:srgbClr val="EAF0F4"/>
                    </a:solidFill>
                  </a:tcPr>
                </a:tc>
                <a:tc>
                  <a:txBody>
                    <a:bodyPr/>
                    <a:lstStyle/>
                    <a:p>
                      <a:r>
                        <a:rPr sz="1725" b="0">
                          <a:solidFill>
                            <a:srgbClr val="193248"/>
                          </a:solidFill>
                          <a:latin typeface="Arial"/>
                          <a:ea typeface="Arial"/>
                          <a:cs typeface="Arial"/>
                        </a:rPr>
                        <a:t>97.22</a:t>
                      </a:r>
                    </a:p>
                  </a:txBody>
                  <a:tcPr marL="91440" marR="91440" marT="45720" marB="45720">
                    <a:lnR w="9525">
                      <a:solidFill>
                        <a:srgbClr val="D9E2E8"/>
                      </a:solidFill>
                      <a:prstDash val="solid"/>
                    </a:lnR>
                    <a:lnB w="9525">
                      <a:solidFill>
                        <a:srgbClr val="D9E2E8"/>
                      </a:solidFill>
                      <a:prstDash val="solid"/>
                    </a:lnB>
                    <a:solidFill>
                      <a:srgbClr val="EAF0F4"/>
                    </a:solidFill>
                  </a:tcPr>
                </a:tc>
              </a:tr>
              <a:tr h="438150">
                <a:tc>
                  <a:txBody>
                    <a:bodyPr/>
                    <a:lstStyle/>
                    <a:p>
                      <a:r>
                        <a:rPr sz="1725" b="0">
                          <a:solidFill>
                            <a:srgbClr val="193248"/>
                          </a:solidFill>
                          <a:latin typeface="Arial"/>
                          <a:ea typeface="Arial"/>
                          <a:cs typeface="Arial"/>
                        </a:rPr>
                        <a:t>FusionNet / 3</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FFFFFF"/>
                    </a:solidFill>
                  </a:tcPr>
                </a:tc>
                <a:tc>
                  <a:txBody>
                    <a:bodyPr/>
                    <a:lstStyle/>
                    <a:p>
                      <a:r>
                        <a:rPr sz="1725" b="0">
                          <a:solidFill>
                            <a:srgbClr val="193248"/>
                          </a:solidFill>
                          <a:latin typeface="Arial"/>
                          <a:ea typeface="Arial"/>
                          <a:cs typeface="Arial"/>
                        </a:rPr>
                        <a:t>0.160577</a:t>
                      </a:r>
                    </a:p>
                  </a:txBody>
                  <a:tcPr marL="91440" marR="91440" marT="45720" marB="45720">
                    <a:lnR w="9525">
                      <a:solidFill>
                        <a:srgbClr val="D9E2E8"/>
                      </a:solidFill>
                      <a:prstDash val="solid"/>
                    </a:lnR>
                    <a:lnB w="9525">
                      <a:solidFill>
                        <a:srgbClr val="D9E2E8"/>
                      </a:solidFill>
                      <a:prstDash val="solid"/>
                    </a:lnB>
                    <a:solidFill>
                      <a:srgbClr val="FFFFFF"/>
                    </a:solidFill>
                  </a:tcPr>
                </a:tc>
                <a:tc>
                  <a:txBody>
                    <a:bodyPr/>
                    <a:lstStyle/>
                    <a:p>
                      <a:r>
                        <a:rPr sz="1725" b="0">
                          <a:solidFill>
                            <a:srgbClr val="193248"/>
                          </a:solidFill>
                          <a:latin typeface="Arial"/>
                          <a:ea typeface="Arial"/>
                          <a:cs typeface="Arial"/>
                        </a:rPr>
                        <a:t>97.42</a:t>
                      </a:r>
                    </a:p>
                  </a:txBody>
                  <a:tcPr marL="91440" marR="91440" marT="45720" marB="45720">
                    <a:lnR w="9525">
                      <a:solidFill>
                        <a:srgbClr val="D9E2E8"/>
                      </a:solidFill>
                      <a:prstDash val="solid"/>
                    </a:lnR>
                    <a:lnB w="9525">
                      <a:solidFill>
                        <a:srgbClr val="D9E2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678950F-57A6-428F-B7BD-288C45F2DEB0}"/>
              </a:ext>
            </a:extLst>
          </p:cNvPr>
          <p:cNvSpPr>
            <a:spLocks xmlns:a="http://schemas.openxmlformats.org/drawingml/2006/main" noGrp="1"/>
          </p:cNvSpPr>
          <p:nvPr/>
        </p:nvSpPr>
        <p:spPr>
          <a:xfrm xmlns:a="http://schemas.openxmlformats.org/drawingml/2006/main">
            <a:off x="685800" y="6019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79"/>
                </a:solidFill>
                <a:latin typeface="Arial"/>
                <a:ea typeface="Arial"/>
                <a:cs typeface="Arial"/>
              </a:defRPr>
            </a:defPPr>
          </a:lstStyle>
          <a:p xmlns:a="http://schemas.openxmlformats.org/drawingml/2006/main">
            <a:pPr>
              <a:defRPr sz="1800" b="0">
                <a:solidFill>
                  <a:srgbClr val="526779"/>
                </a:solidFill>
                <a:latin typeface="Arial"/>
                <a:ea typeface="Arial"/>
                <a:cs typeface="Arial"/>
              </a:defRPr>
            </a:pPr>
            <a:r>
              <a:rPr sz="1800" b="0">
                <a:solidFill>
                  <a:srgbClr val="526779"/>
                </a:solidFill>
                <a:latin typeface="Arial"/>
                <a:ea typeface="Arial"/>
                <a:cs typeface="Arial"/>
              </a:rPr>
              <a:t>R² measures variance explained. Lower RMSE indicates better predictions.</a:t>
            </a:r>
          </a:p>
        </p:txBody>
      </p:sp>
    </p:spTree>
    <p:extLst>
      <p:ext uri="{BB962C8B-B14F-4D97-AF65-F5344CB8AC3E}">
        <p14:creationId xmlns:p14="http://schemas.microsoft.com/office/powerpoint/2010/main" val="1464477306"/>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1B0001-AA93-4107-AE22-A2BFFA5D677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Published performance comparison</a:t>
            </a:r>
          </a:p>
        </p:txBody>
      </p:sp>
      <p:sp>
        <p:nvSpPr>
          <p:cNvPr id="2" name="">
            <a:extLst xmlns:a="http://schemas.openxmlformats.org/drawingml/2006/main">
              <a:ext uri="{FF2B5EF4-FFF2-40B4-BE49-F238E27FC236}">
                <a16:creationId xmlns:a16="http://schemas.microsoft.com/office/drawing/2014/main" id="{4B593586-CE4C-4F92-B93E-8225DAB2477A}"/>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C43E281E-A030-44F0-8AD7-70BDCB2DCB98}"/>
              </a:ext>
            </a:extLst>
          </p:cNvPr>
          <p:cNvPicPr>
            <a:picLocks xmlns:a="http://schemas.openxmlformats.org/drawingml/2006/main" noChangeAspect="1"/>
          </p:cNvPicPr>
          <p:nvPr/>
        </p:nvPicPr>
        <p:blipFill>
          <a:blip xmlns:r="http://schemas.openxmlformats.org/officeDocument/2006/relationships" xmlns:a="http://schemas.openxmlformats.org/drawingml/2006/main" r:embed="R3288ae7626194c37"/>
          <a:stretch xmlns:a="http://schemas.openxmlformats.org/drawingml/2006/main"/>
        </p:blipFill>
        <p:spPr>
          <a:xfrm xmlns:a="http://schemas.openxmlformats.org/drawingml/2006/main">
            <a:off x="1964509" y="1304925"/>
            <a:ext cx="8262981"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AB88A31-DD70-4247-9792-3FBBFC71BF2A}"/>
              </a:ext>
            </a:extLst>
          </p:cNvPr>
          <p:cNvSpPr>
            <a:spLocks xmlns:a="http://schemas.openxmlformats.org/drawingml/2006/main" noGrp="1"/>
          </p:cNvSpPr>
          <p:nvPr/>
        </p:nvSpPr>
        <p:spPr>
          <a:xfrm xmlns:a="http://schemas.openxmlformats.org/drawingml/2006/main">
            <a:off x="685800" y="60007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E87"/>
                </a:solidFill>
                <a:latin typeface="Arial"/>
                <a:ea typeface="Arial"/>
                <a:cs typeface="Arial"/>
              </a:defRPr>
            </a:defPPr>
          </a:lstStyle>
          <a:p xmlns:a="http://schemas.openxmlformats.org/drawingml/2006/main">
            <a:pPr>
              <a:defRPr sz="1725" b="1">
                <a:solidFill>
                  <a:srgbClr val="007E87"/>
                </a:solidFill>
                <a:latin typeface="Arial"/>
                <a:ea typeface="Arial"/>
                <a:cs typeface="Arial"/>
              </a:defRPr>
            </a:pPr>
            <a:r>
              <a:rPr sz="1725" b="1">
                <a:solidFill>
                  <a:srgbClr val="007E87"/>
                </a:solidFill>
                <a:latin typeface="Arial"/>
                <a:ea typeface="Arial"/>
                <a:cs typeface="Arial"/>
              </a:rPr>
              <a:t>Temporal-Only performs best in all runs. For exact GNN Run 2 RMSE, use the results table.</a:t>
            </a:r>
          </a:p>
        </p:txBody>
      </p:sp>
    </p:spTree>
    <p:extLst>
      <p:ext uri="{BB962C8B-B14F-4D97-AF65-F5344CB8AC3E}">
        <p14:creationId xmlns:p14="http://schemas.microsoft.com/office/powerpoint/2010/main" val="87100363"/>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E6A6BF-D778-4823-9B65-38323AFF0F7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Interpretation and limitations</a:t>
            </a:r>
          </a:p>
        </p:txBody>
      </p:sp>
      <p:sp>
        <p:nvSpPr>
          <p:cNvPr id="2" name="">
            <a:extLst xmlns:a="http://schemas.openxmlformats.org/drawingml/2006/main">
              <a:ext uri="{FF2B5EF4-FFF2-40B4-BE49-F238E27FC236}">
                <a16:creationId xmlns:a16="http://schemas.microsoft.com/office/drawing/2014/main" id="{BF5B46AD-6DA0-4AAE-8D3C-4AD6849BC3E1}"/>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0EBCB6E4-FCDF-4DD8-8A6A-7BE48B3220F5}"/>
              </a:ext>
            </a:extLst>
          </p:cNvPr>
          <p:cNvSpPr>
            <a:spLocks xmlns:a="http://schemas.openxmlformats.org/drawingml/2006/main" noGrp="1"/>
          </p:cNvSpPr>
          <p:nvPr/>
        </p:nvSpPr>
        <p:spPr>
          <a:xfrm xmlns:a="http://schemas.openxmlformats.org/drawingml/2006/main">
            <a:off x="628650" y="16002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Observed result</a:t>
            </a:r>
          </a:p>
        </p:txBody>
      </p:sp>
      <p:sp>
        <p:nvSpPr>
          <p:cNvPr id="4" name="">
            <a:extLst xmlns:a="http://schemas.openxmlformats.org/drawingml/2006/main">
              <a:ext uri="{FF2B5EF4-FFF2-40B4-BE49-F238E27FC236}">
                <a16:creationId xmlns:a16="http://schemas.microsoft.com/office/drawing/2014/main" id="{84F44F2E-9F77-494B-BAC3-79EC6002C5B4}"/>
              </a:ext>
            </a:extLst>
          </p:cNvPr>
          <p:cNvSpPr>
            <a:spLocks xmlns:a="http://schemas.openxmlformats.org/drawingml/2006/main" noGrp="1"/>
          </p:cNvSpPr>
          <p:nvPr/>
        </p:nvSpPr>
        <p:spPr>
          <a:xfrm xmlns:a="http://schemas.openxmlformats.org/drawingml/2006/main">
            <a:off x="3714750" y="160020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Adding the spatial semantic stream did not improve the temporal baseline in these experiments.</a:t>
            </a:r>
          </a:p>
        </p:txBody>
      </p:sp>
      <p:sp>
        <p:nvSpPr>
          <p:cNvPr id="5" name="">
            <a:extLst xmlns:a="http://schemas.openxmlformats.org/drawingml/2006/main">
              <a:ext uri="{FF2B5EF4-FFF2-40B4-BE49-F238E27FC236}">
                <a16:creationId xmlns:a16="http://schemas.microsoft.com/office/drawing/2014/main" id="{B72F05C8-97A6-4573-A1C1-205F64E5D4E5}"/>
              </a:ext>
            </a:extLst>
          </p:cNvPr>
          <p:cNvSpPr>
            <a:spLocks xmlns:a="http://schemas.openxmlformats.org/drawingml/2006/main" noGrp="1"/>
          </p:cNvSpPr>
          <p:nvPr/>
        </p:nvSpPr>
        <p:spPr>
          <a:xfrm xmlns:a="http://schemas.openxmlformats.org/drawingml/2006/main">
            <a:off x="628650" y="29622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Possible explanation</a:t>
            </a:r>
          </a:p>
        </p:txBody>
      </p:sp>
      <p:sp>
        <p:nvSpPr>
          <p:cNvPr id="6" name="">
            <a:extLst xmlns:a="http://schemas.openxmlformats.org/drawingml/2006/main">
              <a:ext uri="{FF2B5EF4-FFF2-40B4-BE49-F238E27FC236}">
                <a16:creationId xmlns:a16="http://schemas.microsoft.com/office/drawing/2014/main" id="{1567E612-84FA-498A-8AA3-651DD903543F}"/>
              </a:ext>
            </a:extLst>
          </p:cNvPr>
          <p:cNvSpPr>
            <a:spLocks xmlns:a="http://schemas.openxmlformats.org/drawingml/2006/main" noGrp="1"/>
          </p:cNvSpPr>
          <p:nvPr/>
        </p:nvSpPr>
        <p:spPr>
          <a:xfrm xmlns:a="http://schemas.openxmlformats.org/drawingml/2006/main">
            <a:off x="3714750" y="2962275"/>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News representations may introduce noise or competing gradients. The report interprets this as multimodal negative transfer.</a:t>
            </a:r>
          </a:p>
        </p:txBody>
      </p:sp>
      <p:sp>
        <p:nvSpPr>
          <p:cNvPr id="7" name="">
            <a:extLst xmlns:a="http://schemas.openxmlformats.org/drawingml/2006/main">
              <a:ext uri="{FF2B5EF4-FFF2-40B4-BE49-F238E27FC236}">
                <a16:creationId xmlns:a16="http://schemas.microsoft.com/office/drawing/2014/main" id="{13266939-8AF0-48D5-B4C4-3311FA084DE1}"/>
              </a:ext>
            </a:extLst>
          </p:cNvPr>
          <p:cNvSpPr>
            <a:spLocks xmlns:a="http://schemas.openxmlformats.org/drawingml/2006/main" noGrp="1"/>
          </p:cNvSpPr>
          <p:nvPr/>
        </p:nvSpPr>
        <p:spPr>
          <a:xfrm xmlns:a="http://schemas.openxmlformats.org/drawingml/2006/main">
            <a:off x="628650" y="43243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Scope</a:t>
            </a:r>
          </a:p>
        </p:txBody>
      </p:sp>
      <p:sp>
        <p:nvSpPr>
          <p:cNvPr id="8" name="">
            <a:extLst xmlns:a="http://schemas.openxmlformats.org/drawingml/2006/main">
              <a:ext uri="{FF2B5EF4-FFF2-40B4-BE49-F238E27FC236}">
                <a16:creationId xmlns:a16="http://schemas.microsoft.com/office/drawing/2014/main" id="{1BB59638-A27B-479E-97DD-F8930D250BF8}"/>
              </a:ext>
            </a:extLst>
          </p:cNvPr>
          <p:cNvSpPr>
            <a:spLocks xmlns:a="http://schemas.openxmlformats.org/drawingml/2006/main" noGrp="1"/>
          </p:cNvSpPr>
          <p:nvPr/>
        </p:nvSpPr>
        <p:spPr>
          <a:xfrm xmlns:a="http://schemas.openxmlformats.org/drawingml/2006/main">
            <a:off x="3714750" y="432435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One target asset, one headline source and one historical period. Three runs do not establish formal statistical significance.</a:t>
            </a:r>
          </a:p>
        </p:txBody>
      </p:sp>
    </p:spTree>
    <p:extLst>
      <p:ext uri="{BB962C8B-B14F-4D97-AF65-F5344CB8AC3E}">
        <p14:creationId xmlns:p14="http://schemas.microsoft.com/office/powerpoint/2010/main" val="851977153"/>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1688E5-21B7-47EF-8EBA-5869435BBD9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Reproducibility and next steps</a:t>
            </a:r>
          </a:p>
        </p:txBody>
      </p:sp>
      <p:sp>
        <p:nvSpPr>
          <p:cNvPr id="2" name="">
            <a:extLst xmlns:a="http://schemas.openxmlformats.org/drawingml/2006/main">
              <a:ext uri="{FF2B5EF4-FFF2-40B4-BE49-F238E27FC236}">
                <a16:creationId xmlns:a16="http://schemas.microsoft.com/office/drawing/2014/main" id="{18FD6851-B037-4586-84DF-2CC14B3131BA}"/>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92832546-A54D-4D43-918F-51A7297B1DDF}"/>
              </a:ext>
            </a:extLst>
          </p:cNvPr>
          <p:cNvSpPr>
            <a:spLocks xmlns:a="http://schemas.openxmlformats.org/drawingml/2006/main" noGrp="1"/>
          </p:cNvSpPr>
          <p:nvPr/>
        </p:nvSpPr>
        <p:spPr>
          <a:xfrm xmlns:a="http://schemas.openxmlformats.org/drawingml/2006/main">
            <a:off x="628650" y="16002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Experiment record</a:t>
            </a:r>
          </a:p>
        </p:txBody>
      </p:sp>
      <p:sp>
        <p:nvSpPr>
          <p:cNvPr id="4" name="">
            <a:extLst xmlns:a="http://schemas.openxmlformats.org/drawingml/2006/main">
              <a:ext uri="{FF2B5EF4-FFF2-40B4-BE49-F238E27FC236}">
                <a16:creationId xmlns:a16="http://schemas.microsoft.com/office/drawing/2014/main" id="{C8EE9CB5-B323-4428-A178-FF8B60AE96EE}"/>
              </a:ext>
            </a:extLst>
          </p:cNvPr>
          <p:cNvSpPr>
            <a:spLocks xmlns:a="http://schemas.openxmlformats.org/drawingml/2006/main" noGrp="1"/>
          </p:cNvSpPr>
          <p:nvPr/>
        </p:nvSpPr>
        <p:spPr>
          <a:xfrm xmlns:a="http://schemas.openxmlformats.org/drawingml/2006/main">
            <a:off x="3714750" y="160020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Keep the completed report results, original graphs and run-specific metrics as the reference experiment.</a:t>
            </a:r>
          </a:p>
        </p:txBody>
      </p:sp>
      <p:sp>
        <p:nvSpPr>
          <p:cNvPr id="5" name="">
            <a:extLst xmlns:a="http://schemas.openxmlformats.org/drawingml/2006/main">
              <a:ext uri="{FF2B5EF4-FFF2-40B4-BE49-F238E27FC236}">
                <a16:creationId xmlns:a16="http://schemas.microsoft.com/office/drawing/2014/main" id="{E16D494B-BEB8-41F5-A409-428B6E023E17}"/>
              </a:ext>
            </a:extLst>
          </p:cNvPr>
          <p:cNvSpPr>
            <a:spLocks xmlns:a="http://schemas.openxmlformats.org/drawingml/2006/main" noGrp="1"/>
          </p:cNvSpPr>
          <p:nvPr/>
        </p:nvSpPr>
        <p:spPr>
          <a:xfrm xmlns:a="http://schemas.openxmlformats.org/drawingml/2006/main">
            <a:off x="628650" y="29622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Reproduction checks</a:t>
            </a:r>
          </a:p>
        </p:txBody>
      </p:sp>
      <p:sp>
        <p:nvSpPr>
          <p:cNvPr id="6" name="">
            <a:extLst xmlns:a="http://schemas.openxmlformats.org/drawingml/2006/main">
              <a:ext uri="{FF2B5EF4-FFF2-40B4-BE49-F238E27FC236}">
                <a16:creationId xmlns:a16="http://schemas.microsoft.com/office/drawing/2014/main" id="{ADF19A7E-16B2-4691-973D-0C236EACA295}"/>
              </a:ext>
            </a:extLst>
          </p:cNvPr>
          <p:cNvSpPr>
            <a:spLocks xmlns:a="http://schemas.openxmlformats.org/drawingml/2006/main" noGrp="1"/>
          </p:cNvSpPr>
          <p:nvPr/>
        </p:nvSpPr>
        <p:spPr>
          <a:xfrm xmlns:a="http://schemas.openxmlformats.org/drawingml/2006/main">
            <a:off x="3714750" y="2962275"/>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Match the prediction target and graph inputs to the reported experiment. Fit preprocessing on training data and reserve a separate validation set.</a:t>
            </a:r>
          </a:p>
        </p:txBody>
      </p:sp>
      <p:sp>
        <p:nvSpPr>
          <p:cNvPr id="7" name="">
            <a:extLst xmlns:a="http://schemas.openxmlformats.org/drawingml/2006/main">
              <a:ext uri="{FF2B5EF4-FFF2-40B4-BE49-F238E27FC236}">
                <a16:creationId xmlns:a16="http://schemas.microsoft.com/office/drawing/2014/main" id="{28964717-80D9-4F5F-AD56-A5C5B703E31A}"/>
              </a:ext>
            </a:extLst>
          </p:cNvPr>
          <p:cNvSpPr>
            <a:spLocks xmlns:a="http://schemas.openxmlformats.org/drawingml/2006/main" noGrp="1"/>
          </p:cNvSpPr>
          <p:nvPr/>
        </p:nvSpPr>
        <p:spPr>
          <a:xfrm xmlns:a="http://schemas.openxmlformats.org/drawingml/2006/main">
            <a:off x="628650" y="43243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E87"/>
                </a:solidFill>
                <a:latin typeface="Arial"/>
                <a:ea typeface="Arial"/>
                <a:cs typeface="Arial"/>
              </a:defRPr>
            </a:defPPr>
          </a:lstStyle>
          <a:p xmlns:a="http://schemas.openxmlformats.org/drawingml/2006/main">
            <a:pPr>
              <a:defRPr sz="2025" b="1">
                <a:solidFill>
                  <a:srgbClr val="007E87"/>
                </a:solidFill>
                <a:latin typeface="Arial"/>
                <a:ea typeface="Arial"/>
                <a:cs typeface="Arial"/>
              </a:defRPr>
            </a:pPr>
            <a:r>
              <a:rPr sz="2025" b="1">
                <a:solidFill>
                  <a:srgbClr val="007E87"/>
                </a:solidFill>
                <a:latin typeface="Arial"/>
                <a:ea typeface="Arial"/>
                <a:cs typeface="Arial"/>
              </a:rPr>
              <a:t>Further work</a:t>
            </a:r>
          </a:p>
        </p:txBody>
      </p:sp>
      <p:sp>
        <p:nvSpPr>
          <p:cNvPr id="8" name="">
            <a:extLst xmlns:a="http://schemas.openxmlformats.org/drawingml/2006/main">
              <a:ext uri="{FF2B5EF4-FFF2-40B4-BE49-F238E27FC236}">
                <a16:creationId xmlns:a16="http://schemas.microsoft.com/office/drawing/2014/main" id="{FA9D1EEC-55BC-47C2-8C3A-03BCE330C0BD}"/>
              </a:ext>
            </a:extLst>
          </p:cNvPr>
          <p:cNvSpPr>
            <a:spLocks xmlns:a="http://schemas.openxmlformats.org/drawingml/2006/main" noGrp="1"/>
          </p:cNvSpPr>
          <p:nvPr/>
        </p:nvSpPr>
        <p:spPr>
          <a:xfrm xmlns:a="http://schemas.openxmlformats.org/drawingml/2006/main">
            <a:off x="3714750" y="4324350"/>
            <a:ext cx="771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248"/>
                </a:solidFill>
                <a:latin typeface="Arial"/>
                <a:ea typeface="Arial"/>
                <a:cs typeface="Arial"/>
              </a:defRPr>
            </a:defPPr>
          </a:lstStyle>
          <a:p xmlns:a="http://schemas.openxmlformats.org/drawingml/2006/main">
            <a:pPr>
              <a:defRPr sz="2025" b="0">
                <a:solidFill>
                  <a:srgbClr val="193248"/>
                </a:solidFill>
                <a:latin typeface="Arial"/>
                <a:ea typeface="Arial"/>
                <a:cs typeface="Arial"/>
              </a:defRPr>
            </a:pPr>
            <a:r>
              <a:rPr sz="2025" b="0">
                <a:solidFill>
                  <a:srgbClr val="193248"/>
                </a:solidFill>
                <a:latin typeface="Arial"/>
                <a:ea typeface="Arial"/>
                <a:cs typeface="Arial"/>
              </a:rPr>
              <a:t>Evaluate more markets and time periods, test news timing, and investigate gradient balancing or gated fusion.</a:t>
            </a:r>
          </a:p>
        </p:txBody>
      </p:sp>
    </p:spTree>
    <p:extLst>
      <p:ext uri="{BB962C8B-B14F-4D97-AF65-F5344CB8AC3E}">
        <p14:creationId xmlns:p14="http://schemas.microsoft.com/office/powerpoint/2010/main" val="220378485"/>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160865-91FF-4085-8DF6-6D3A6D0AF30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63C"/>
                </a:solidFill>
                <a:latin typeface="Arial"/>
                <a:ea typeface="Arial"/>
                <a:cs typeface="Arial"/>
              </a:defRPr>
            </a:defPPr>
          </a:lstStyle>
          <a:p xmlns:a="http://schemas.openxmlformats.org/drawingml/2006/main">
            <a:pPr>
              <a:defRPr sz="3150" b="1">
                <a:solidFill>
                  <a:srgbClr val="10263C"/>
                </a:solidFill>
                <a:latin typeface="Arial"/>
                <a:ea typeface="Arial"/>
                <a:cs typeface="Arial"/>
              </a:defRPr>
            </a:pPr>
            <a:r>
              <a:rPr sz="3150" b="1">
                <a:solidFill>
                  <a:srgbClr val="10263C"/>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AC9CF829-0C95-4481-AD33-3E0D8301DB15}"/>
              </a:ext>
            </a:extLst>
          </p:cNvPr>
          <p:cNvSpPr>
            <a:spLocks xmlns:a="http://schemas.openxmlformats.org/drawingml/2006/main" noGrp="1"/>
          </p:cNvSpPr>
          <p:nvPr/>
        </p:nvSpPr>
        <p:spPr>
          <a:xfrm xmlns:a="http://schemas.openxmlformats.org/drawingml/2006/main">
            <a:off x="110490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9"/>
                </a:solidFill>
                <a:latin typeface="Arial"/>
                <a:ea typeface="Arial"/>
                <a:cs typeface="Arial"/>
              </a:defRPr>
            </a:defPPr>
          </a:lstStyle>
          <a:p xmlns:a="http://schemas.openxmlformats.org/drawingml/2006/main">
            <a:pPr>
              <a:defRPr sz="1200" b="0">
                <a:solidFill>
                  <a:srgbClr val="526779"/>
                </a:solidFill>
                <a:latin typeface="Arial"/>
                <a:ea typeface="Arial"/>
                <a:cs typeface="Arial"/>
              </a:defRPr>
            </a:pPr>
            <a:r>
              <a:rPr sz="1200" b="0">
                <a:solidFill>
                  <a:srgbClr val="526779"/>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5E97D997-BFF0-4A7F-8866-0C328CC8DC05}"/>
              </a:ext>
            </a:extLst>
          </p:cNvPr>
          <p:cNvSpPr>
            <a:spLocks xmlns:a="http://schemas.openxmlformats.org/drawingml/2006/main" noGrp="1"/>
          </p:cNvSpPr>
          <p:nvPr/>
        </p:nvSpPr>
        <p:spPr>
          <a:xfrm xmlns:a="http://schemas.openxmlformats.org/drawingml/2006/main">
            <a:off x="685800" y="1619250"/>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0263C"/>
                </a:solidFill>
                <a:latin typeface="Arial"/>
                <a:ea typeface="Arial"/>
                <a:cs typeface="Arial"/>
              </a:defRPr>
            </a:defPPr>
          </a:lstStyle>
          <a:p xmlns:a="http://schemas.openxmlformats.org/drawingml/2006/main">
            <a:pPr>
              <a:defRPr sz="3600" b="1">
                <a:solidFill>
                  <a:srgbClr val="10263C"/>
                </a:solidFill>
                <a:latin typeface="Arial"/>
                <a:ea typeface="Arial"/>
                <a:cs typeface="Arial"/>
              </a:defRPr>
            </a:pPr>
            <a:r>
              <a:rPr sz="3600" b="1">
                <a:solidFill>
                  <a:srgbClr val="10263C"/>
                </a:solidFill>
                <a:latin typeface="Arial"/>
                <a:ea typeface="Arial"/>
                <a:cs typeface="Arial"/>
              </a:rPr>
              <a:t>The temporal baseline is the strongest</a:t>
            </a:r>
          </a:p>
          <a:p xmlns:a="http://schemas.openxmlformats.org/drawingml/2006/main">
            <a:pPr>
              <a:defRPr sz="3600" b="1">
                <a:solidFill>
                  <a:srgbClr val="10263C"/>
                </a:solidFill>
                <a:latin typeface="Arial"/>
                <a:ea typeface="Arial"/>
                <a:cs typeface="Arial"/>
              </a:defRPr>
            </a:pPr>
            <a:r>
              <a:rPr sz="3600" b="1">
                <a:solidFill>
                  <a:srgbClr val="10263C"/>
                </a:solidFill>
                <a:latin typeface="Arial"/>
                <a:ea typeface="Arial"/>
                <a:cs typeface="Arial"/>
              </a:rPr>
              <a:t>model in the reported experiment.</a:t>
            </a:r>
          </a:p>
        </p:txBody>
      </p:sp>
      <p:sp>
        <p:nvSpPr>
          <p:cNvPr id="4" name="">
            <a:extLst xmlns:a="http://schemas.openxmlformats.org/drawingml/2006/main">
              <a:ext uri="{FF2B5EF4-FFF2-40B4-BE49-F238E27FC236}">
                <a16:creationId xmlns:a16="http://schemas.microsoft.com/office/drawing/2014/main" id="{03310C1A-B822-4A1F-B893-8302F8E113B6}"/>
              </a:ext>
            </a:extLst>
          </p:cNvPr>
          <p:cNvSpPr>
            <a:spLocks xmlns:a="http://schemas.openxmlformats.org/drawingml/2006/main" noGrp="1"/>
          </p:cNvSpPr>
          <p:nvPr/>
        </p:nvSpPr>
        <p:spPr>
          <a:xfrm xmlns:a="http://schemas.openxmlformats.org/drawingml/2006/main">
            <a:off x="685800" y="35718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93248"/>
                </a:solidFill>
                <a:latin typeface="Arial"/>
                <a:ea typeface="Arial"/>
                <a:cs typeface="Arial"/>
              </a:defRPr>
            </a:defPPr>
          </a:lstStyle>
          <a:p xmlns:a="http://schemas.openxmlformats.org/drawingml/2006/main">
            <a:pPr>
              <a:defRPr sz="2400" b="0">
                <a:solidFill>
                  <a:srgbClr val="193248"/>
                </a:solidFill>
                <a:latin typeface="Arial"/>
                <a:ea typeface="Arial"/>
                <a:cs typeface="Arial"/>
              </a:defRPr>
            </a:pPr>
            <a:r>
              <a:rPr sz="2400" b="0">
                <a:solidFill>
                  <a:srgbClr val="193248"/>
                </a:solidFill>
                <a:latin typeface="Arial"/>
                <a:ea typeface="Arial"/>
                <a:cs typeface="Arial"/>
              </a:rPr>
              <a:t>FusionNet demonstrates a working multimodal architecture,</a:t>
            </a:r>
          </a:p>
          <a:p xmlns:a="http://schemas.openxmlformats.org/drawingml/2006/main">
            <a:pPr>
              <a:defRPr sz="2400" b="0">
                <a:solidFill>
                  <a:srgbClr val="193248"/>
                </a:solidFill>
                <a:latin typeface="Arial"/>
                <a:ea typeface="Arial"/>
                <a:cs typeface="Arial"/>
              </a:defRPr>
            </a:pPr>
            <a:r>
              <a:rPr sz="2400" b="0">
                <a:solidFill>
                  <a:srgbClr val="193248"/>
                </a:solidFill>
                <a:latin typeface="Arial"/>
                <a:ea typeface="Arial"/>
                <a:cs typeface="Arial"/>
              </a:rPr>
              <a:t>while its ablations expose the risk of negative transfer.</a:t>
            </a:r>
          </a:p>
        </p:txBody>
      </p:sp>
      <p:sp>
        <p:nvSpPr>
          <p:cNvPr id="5" name="">
            <a:extLst xmlns:a="http://schemas.openxmlformats.org/drawingml/2006/main">
              <a:ext uri="{FF2B5EF4-FFF2-40B4-BE49-F238E27FC236}">
                <a16:creationId xmlns:a16="http://schemas.microsoft.com/office/drawing/2014/main" id="{F3DDEA23-63D9-417C-B665-822A498BD19E}"/>
              </a:ext>
            </a:extLst>
          </p:cNvPr>
          <p:cNvSpPr>
            <a:spLocks xmlns:a="http://schemas.openxmlformats.org/drawingml/2006/main" noGrp="1"/>
          </p:cNvSpPr>
          <p:nvPr/>
        </p:nvSpPr>
        <p:spPr>
          <a:xfrm xmlns:a="http://schemas.openxmlformats.org/drawingml/2006/main">
            <a:off x="685800" y="55245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7E87"/>
                </a:solidFill>
                <a:latin typeface="Arial"/>
                <a:ea typeface="Arial"/>
                <a:cs typeface="Arial"/>
              </a:defRPr>
            </a:defPPr>
          </a:lstStyle>
          <a:p xmlns:a="http://schemas.openxmlformats.org/drawingml/2006/main">
            <a:pPr>
              <a:defRPr sz="1875" b="0">
                <a:solidFill>
                  <a:srgbClr val="007E87"/>
                </a:solidFill>
                <a:latin typeface="Arial"/>
                <a:ea typeface="Arial"/>
                <a:cs typeface="Arial"/>
              </a:defRPr>
            </a:pPr>
            <a:r>
              <a:rPr sz="1875" b="0">
                <a:solidFill>
                  <a:srgbClr val="007E87"/>
                </a:solidFill>
                <a:latin typeface="Arial"/>
                <a:ea typeface="Arial"/>
                <a:cs typeface="Arial"/>
              </a:rPr>
              <a:t>Repository: github.com/863344/neuro-financial-fusioinnet</a:t>
            </a:r>
          </a:p>
        </p:txBody>
      </p:sp>
    </p:spTree>
    <p:extLst>
      <p:ext uri="{BB962C8B-B14F-4D97-AF65-F5344CB8AC3E}">
        <p14:creationId xmlns:p14="http://schemas.microsoft.com/office/powerpoint/2010/main" val="19309318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2026-10-15T06:09:35.3130000Z</dcterms:created>
  <dcterms:modified xsi:type="dcterms:W3CDTF">2026-10-15T06:09:35.3130000Z</dcterms:modified>
</coreProperties>
</file>